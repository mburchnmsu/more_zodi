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1025627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SPHEREx: </a:t>
            </a:r>
            <a:r>
              <a:rPr sz="3000" b="0">
                <a:solidFill>
                  <a:srgbClr val="1B1F24"/>
                </a:solidFill>
                <a:latin typeface="Arial"/>
              </a:rPr>
              <a:t>NASA space telescope (launched March 2025) mapping the </a:t>
            </a:r>
            <a:r>
              <a:rPr sz="3000" b="1">
                <a:solidFill>
                  <a:srgbClr val="B8460B"/>
                </a:solidFill>
                <a:latin typeface="Arial"/>
              </a:rPr>
              <a:t>entire sky in infrared</a:t>
            </a:r>
            <a:r>
              <a:rPr sz="3000" b="0">
                <a:solidFill>
                  <a:srgbClr val="1B1F24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Science: </a:t>
            </a:r>
            <a:r>
              <a:rPr sz="3000" b="0">
                <a:solidFill>
                  <a:srgbClr val="1B1F24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860024"/>
            <a:ext cx="7269480" cy="671230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Far brighter than the faint glow of distant galaxies SPHEREx aims to measure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Changes with pointing and Earth's place in orbit → </a:t>
            </a:r>
            <a:r>
              <a:rPr sz="2800" b="1">
                <a:solidFill>
                  <a:srgbClr val="B8460B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Standard dust model from NASA's COBE; </a:t>
            </a:r>
            <a:r>
              <a:rPr sz="2800" b="1">
                <a:solidFill>
                  <a:srgbClr val="B8460B"/>
                </a:solidFill>
                <a:latin typeface="Arial"/>
              </a:rPr>
              <a:t>ZodiPy</a:t>
            </a:r>
            <a:r>
              <a:rPr sz="2800" b="0">
                <a:solidFill>
                  <a:srgbClr val="1B1F24"/>
                </a:solidFill>
                <a:latin typeface="Arial"/>
              </a:rPr>
              <a:t> evaluates its prediction of the zodiacal-light contribution to what SPHEREx observes</a:t>
            </a:r>
          </a:p>
        </p:txBody>
      </p:sp>
      <p:pic>
        <p:nvPicPr>
          <p:cNvPr id="15" name="Picture 14" descr="sky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1134344"/>
            <a:ext cx="6995160" cy="4197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0" y="15422880"/>
            <a:ext cx="69951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1. </a:t>
            </a:r>
            <a:r>
              <a:rPr sz="2600" b="0">
                <a:solidFill>
                  <a:srgbClr val="4A5563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8660867"/>
            <a:ext cx="15361920" cy="3713927"/>
          </a:xfrm>
          <a:prstGeom prst="rect">
            <a:avLst/>
          </a:prstGeom>
          <a:solidFill>
            <a:srgbClr val="FFF4E0"/>
          </a:solidFill>
          <a:ln w="762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18862035"/>
            <a:ext cx="7040880" cy="3072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Zodiacal light must be removed from every SPHEREx image, but Kelsall's model uses a finite number of analytic components that don't fully describe the spatial and spectral structure in real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18862035"/>
            <a:ext cx="7040880" cy="261152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A </a:t>
            </a:r>
            <a:r>
              <a:rPr sz="2800" b="1">
                <a:solidFill>
                  <a:srgbClr val="B8460B"/>
                </a:solidFill>
                <a:latin typeface="Arial"/>
              </a:rPr>
              <a:t>geometrically constrained</a:t>
            </a:r>
            <a:r>
              <a:rPr sz="2800" b="0">
                <a:solidFill>
                  <a:srgbClr val="1B1F24"/>
                </a:solidFill>
                <a:latin typeface="Arial"/>
              </a:rPr>
              <a:t> neural network that learns zodiacal light from SPHEREx data and </a:t>
            </a:r>
            <a:r>
              <a:rPr sz="2800" b="1">
                <a:solidFill>
                  <a:srgbClr val="B8460B"/>
                </a:solidFill>
                <a:latin typeface="Arial"/>
              </a:rPr>
              <a:t>outperforms the Kelsall model</a:t>
            </a:r>
            <a:r>
              <a:rPr sz="2800" b="0">
                <a:solidFill>
                  <a:srgbClr val="1B1F24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2786274"/>
            <a:ext cx="15361920" cy="17447325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4837124"/>
            <a:ext cx="6122822" cy="45311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No dates or sky coordinates: only </a:t>
            </a:r>
            <a:r>
              <a:rPr sz="2800" b="1">
                <a:solidFill>
                  <a:srgbClr val="B8460B"/>
                </a:solidFill>
                <a:latin typeface="Arial"/>
              </a:rPr>
              <a:t>9 numbers describing the viewing geometry</a:t>
            </a:r>
            <a:r>
              <a:rPr sz="2800" b="0">
                <a:solidFill>
                  <a:srgbClr val="1B1F24"/>
                </a:solidFill>
                <a:latin typeface="Arial"/>
              </a:rPr>
              <a:t> (Fig. 2), dot products of the pointing vector n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4" name="Picture 23" descr="geometry_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142" y="24334485"/>
            <a:ext cx="8141817" cy="55364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29962361"/>
            <a:ext cx="145389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2. </a:t>
            </a:r>
            <a:r>
              <a:rPr sz="2600" b="0">
                <a:solidFill>
                  <a:srgbClr val="4A5563"/>
                </a:solidFill>
                <a:latin typeface="Arial"/>
              </a:rPr>
              <a:t>The geometry the network sees (top view, not to scale): n = SPHEREx's pointing vector; S, E = SPHEREx, Earth positions; v = orbital motion; λ⊕ = Earth's angle around its orbit. Jupiter and the Moon are tracked for real data: dust clouds leading and trailing Jupiter, and moonlight.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2031779"/>
            <a:ext cx="1453896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1E5AA8"/>
                </a:solidFill>
                <a:latin typeface="Arial"/>
              </a:rPr>
              <a:t>The 9 inputs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653571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n·S, n·E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32653571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3165635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3165635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3677699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n·vS, n·vE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3677699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4189763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n·x⊕, n·y⊕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34189763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4701827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sin λ⊕, cos λ⊕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34701827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35573381"/>
            <a:ext cx="6995160" cy="314858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Tested on whole months and sky regions they never saw</a:t>
            </a:r>
          </a:p>
        </p:txBody>
      </p:sp>
      <p:pic>
        <p:nvPicPr>
          <p:cNvPr id="38" name="Picture 37" descr="training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35573381"/>
            <a:ext cx="7269480" cy="30047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43000" y="38813405"/>
            <a:ext cx="14538960" cy="8778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3. </a:t>
            </a:r>
            <a:r>
              <a:rPr sz="2600" b="0">
                <a:solidFill>
                  <a:srgbClr val="4A5563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788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017448" y="11173968"/>
            <a:ext cx="12976942" cy="6488471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7753879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4. </a:t>
            </a:r>
            <a:r>
              <a:rPr sz="2600" b="0">
                <a:solidFill>
                  <a:srgbClr val="4A5563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shifts_ligh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77919" y="19157483"/>
            <a:ext cx="12256001" cy="55152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4764123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5. </a:t>
            </a:r>
            <a:r>
              <a:rPr sz="2600" b="0">
                <a:solidFill>
                  <a:srgbClr val="4A5563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236440" y="26167727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Largest errors </a:t>
            </a:r>
            <a:r>
              <a:rPr sz="3000" b="0">
                <a:solidFill>
                  <a:srgbClr val="1B1F24"/>
                </a:solidFill>
                <a:latin typeface="Arial"/>
              </a:rPr>
              <a:t>along the plane of the planets, where the dust bands are; </a:t>
            </a:r>
            <a:r>
              <a:rPr sz="3000" b="1">
                <a:solidFill>
                  <a:srgbClr val="B8460B"/>
                </a:solidFill>
                <a:latin typeface="Arial"/>
              </a:rPr>
              <a:t>smallest </a:t>
            </a:r>
            <a:r>
              <a:rPr sz="3000" b="0">
                <a:solidFill>
                  <a:srgbClr val="1B1F24"/>
                </a:solidFill>
                <a:latin typeface="Arial"/>
              </a:rPr>
              <a:t>toward the poles (Fig. 6)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B8460B"/>
                </a:solidFill>
                <a:latin typeface="Arial"/>
              </a:rPr>
              <a:t>More data: </a:t>
            </a:r>
            <a:r>
              <a:rPr sz="3000" b="0">
                <a:solidFill>
                  <a:srgbClr val="1B1F24"/>
                </a:solidFill>
                <a:latin typeface="Arial"/>
              </a:rPr>
              <a:t>with all 500 days the whole sky is tested and the plane-of-the-planets error drops (0.083% → 0.064%)</a:t>
            </a:r>
          </a:p>
        </p:txBody>
      </p:sp>
      <p:pic>
        <p:nvPicPr>
          <p:cNvPr id="57" name="Picture 56" descr="skyerror_pair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296507" y="28450679"/>
            <a:ext cx="14418825" cy="461402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236440" y="33156144"/>
            <a:ext cx="145389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6. </a:t>
            </a:r>
            <a:r>
              <a:rPr sz="2600" b="0">
                <a:solidFill>
                  <a:srgbClr val="4A5563"/>
                </a:solidFill>
                <a:latin typeface="Arial"/>
              </a:rPr>
              <a:t>Error on pointings the network never saw, across the sky (3.5° patches, about SPHEREx's view). Left: the first 140 days. Right: all 500 days now available; with more than a year of data, Jupiter's direction (n·J) also helps the network tell the two years apart. Grey: not tested.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824960" y="35524440"/>
            <a:ext cx="15361920" cy="4709159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2364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4193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✓ DONE: Validate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Learn ZodiPy's simulated sky from geometry alone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24323040" y="37216080"/>
            <a:ext cx="365759" cy="365760"/>
          </a:xfrm>
          <a:prstGeom prst="right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47802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49631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IN PROGRESS: Refine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More data (500 days), longer training, Jupiter's direction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2364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4193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NEXT: Scale up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4323040" y="38724839"/>
            <a:ext cx="365759" cy="365760"/>
          </a:xfrm>
          <a:prstGeom prst="right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47802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9631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NEXT: Real data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Train on real SPHEREx images; compare with Kelsall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236440" y="39684960"/>
            <a:ext cx="1453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4A5563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76" name="Picture 75" descr="logo_ns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