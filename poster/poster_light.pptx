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2: Jupiter and the Moon are drawn for context; the poster's model inputs are n.S n.z n.E n.vS n.vE n.x_E n.y_E sin/cos(lambda_E) (no Jupiter, no Moon).</a:t>
            </a:r>
          </a:p>
          <a:p>
            <a:r>
              <a:t>Numbers (poster/data_accuracy.jl, data_blocks.jl): 5-network ensemble, 64-64-32-16 gelu.</a:t>
            </a:r>
          </a:p>
          <a:p>
            <a:r>
              <a:t>  Trained on days 0-30, 60-90, 120-140; tested on days 30-60, 90-120 (180,166 pointings, 43%): median 0.026%, p95 0.10%, 94.8% within 0.1%, RMS 0.058%.</a:t>
            </a:r>
          </a:p>
          <a:p>
            <a:r>
              <a:t>  Random 10% withheld: median 0.015%. Errors are relative to ZodiPy (the Kelsall model), not the real sky.</a:t>
            </a:r>
          </a:p>
          <a:p>
            <a:r>
              <a:t>- Fig. 3 (poster/data_training.jl): per-epoch MSE of each network on its training data and on the withheld data; final mean</a:t>
            </a:r>
          </a:p>
          <a:p>
            <a:r>
              <a:t>  train/test MSE 1.2e-7 / 2.3e-7 (MJy/sr)^2 for the 30-day split, 6.2e-8 / 5.9e-8 for the random 10%.</a:t>
            </a:r>
          </a:p>
          <a:p>
            <a:r>
              <a:t>- Fig. 5 (round 16, 10152026 notebook): the 30-day split slid by 0, 10, ..., 50 days, 5 seeds each. Red = withheld windows</a:t>
            </a:r>
          </a:p>
          <a:p>
            <a:r>
              <a:t>  with training data before and after (interpolation): 0.023-0.037%. Orange = withheld windows at the mission's start/end</a:t>
            </a:r>
          </a:p>
          <a:p>
            <a:r>
              <a:t>  (extrapolation in time): 10 days 0.03-0.04%, 20-30 days 0.11-0.22% median.</a:t>
            </a:r>
          </a:p>
          <a:p>
            <a:r>
              <a:t>- Fig. 6 (poster/data_skyerror.jl): red (interior) windows only, 364,797 pointings (86%), each averaged over the versions</a:t>
            </a:r>
          </a:p>
          <a:p>
            <a:r>
              <a:t>  that withheld it. Within 2 deg of the ecliptic 0.094%, above 60 deg 0.016%. Map: each boresight spread over a</a:t>
            </a:r>
          </a:p>
          <a:p>
            <a:r>
              <a:t>  1.75-deg-radius disc on a 1-deg grid (boresights lie on scan circles a few degrees apart; without spreading, thin</a:t>
            </a:r>
          </a:p>
          <a:p>
            <a:r>
              <a:t>  pole-to-pole gaps appear).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~0.03%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9966301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860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SPHEREx: </a:t>
            </a:r>
            <a:r>
              <a:rPr sz="2600" b="0">
                <a:solidFill>
                  <a:srgbClr val="1B1F24"/>
                </a:solidFill>
                <a:latin typeface="Arial"/>
              </a:rPr>
              <a:t>NASA space telescope, launched in March 2025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0">
                <a:solidFill>
                  <a:srgbClr val="1B1F24"/>
                </a:solidFill>
                <a:latin typeface="Arial"/>
              </a:rPr>
              <a:t>Maps the </a:t>
            </a:r>
            <a:r>
              <a:rPr sz="2600" b="1">
                <a:solidFill>
                  <a:srgbClr val="1B1F24"/>
                </a:solidFill>
                <a:latin typeface="Arial"/>
              </a:rPr>
              <a:t>entire sky across a range of infrared wavelengths</a:t>
            </a:r>
            <a:r>
              <a:rPr sz="2600" b="0">
                <a:solidFill>
                  <a:srgbClr val="1B1F24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Science: </a:t>
            </a:r>
            <a:r>
              <a:rPr sz="2600" b="0">
                <a:solidFill>
                  <a:srgbClr val="1B1F24"/>
                </a:solidFill>
                <a:latin typeface="Arial"/>
              </a:rPr>
              <a:t>how the universe began, how galaxies formed, and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672876"/>
            <a:ext cx="7705648" cy="593262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1B1F24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E5AA8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0">
                <a:solidFill>
                  <a:srgbClr val="1B1F24"/>
                </a:solidFill>
                <a:latin typeface="Arial"/>
              </a:rPr>
              <a:t>Standard dust model (Kelsall et al. 1998, NASA's COBE): smooth cloud, three dust bands, a ring around the Sun, a clump trailing Earth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400" b="1">
                <a:solidFill>
                  <a:srgbClr val="1B1F24"/>
                </a:solidFill>
                <a:latin typeface="Arial"/>
              </a:rPr>
              <a:t>ZodiPy</a:t>
            </a:r>
            <a:r>
              <a:rPr sz="2400" b="0">
                <a:solidFill>
                  <a:srgbClr val="1B1F24"/>
                </a:solidFill>
                <a:latin typeface="Arial"/>
              </a:rPr>
              <a:t> computes what a telescope sees; we use it to simulate SPHEREx data</a:t>
            </a:r>
          </a:p>
        </p:txBody>
      </p:sp>
      <p:pic>
        <p:nvPicPr>
          <p:cNvPr id="15" name="Picture 14" descr="sky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9471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9740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1. </a:t>
            </a:r>
            <a:r>
              <a:rPr sz="2200" b="0">
                <a:solidFill>
                  <a:srgbClr val="4A5563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7601541"/>
            <a:ext cx="15361920" cy="3480657"/>
          </a:xfrm>
          <a:prstGeom prst="rect">
            <a:avLst/>
          </a:prstGeom>
          <a:solidFill>
            <a:srgbClr val="FFF4E0"/>
          </a:solidFill>
          <a:ln w="762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7802709"/>
            <a:ext cx="7040880" cy="24408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Zodiacal light must be removed from every SPHEREx image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Physics models such as Kelsall's were fit to older data and leave errors behind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7802709"/>
            <a:ext cx="7040880" cy="28523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Build a </a:t>
            </a:r>
            <a:r>
              <a:rPr sz="2500" b="1">
                <a:solidFill>
                  <a:srgbClr val="1B1F24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1B1F24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1B1F24"/>
                </a:solidFill>
                <a:latin typeface="Arial"/>
              </a:rPr>
              <a:t>outperforms 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First step (this poster): learn ZodiPy's simulated sky from geometry alone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1493679"/>
            <a:ext cx="15361920" cy="1873992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1493679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1493679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3479725"/>
            <a:ext cx="6268212" cy="45744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No dates and no sky-map positions as inputs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Only </a:t>
            </a:r>
            <a:r>
              <a:rPr sz="2500" b="1">
                <a:solidFill>
                  <a:srgbClr val="1B1F24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1B1F24"/>
                </a:solidFill>
                <a:latin typeface="Arial"/>
              </a:rPr>
              <a:t> (Fig. 2): dot products of the look direction n, plus Earth's place in its orbit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5532" y="23048159"/>
            <a:ext cx="7996428" cy="54375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8577170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2. </a:t>
            </a:r>
            <a:r>
              <a:rPr sz="2200" b="0">
                <a:solidFill>
                  <a:srgbClr val="4A5563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0009209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1E5AA8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0557849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0557849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098761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0987617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1417385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1417385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1847153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1847153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look direction in a frame that turns with Earth (x⊕ = Sun →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227692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1E5AA8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2276921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1B1F24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3388921"/>
            <a:ext cx="7867497" cy="51383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5AA8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423,607 simulated SPHEREx pointings from ZodiPy (140 days, 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Five small networks (4 hidden layers, 64 → 16 neurons; Flux.jl in Julia),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0">
                <a:solidFill>
                  <a:srgbClr val="1B1F24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1">
                <a:solidFill>
                  <a:srgbClr val="1B1F24"/>
                </a:solidFill>
                <a:latin typeface="Arial"/>
              </a:rPr>
              <a:t>Lesson: </a:t>
            </a:r>
            <a:r>
              <a:rPr sz="2500" b="0">
                <a:solidFill>
                  <a:srgbClr val="1B1F24"/>
                </a:solidFill>
                <a:latin typeface="Arial"/>
              </a:rPr>
              <a:t>adding the time of year (sin λ⊕, cos λ⊕) cut the errors ~40–65×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500" b="1">
                <a:solidFill>
                  <a:srgbClr val="1B1F24"/>
                </a:solidFill>
                <a:latin typeface="Arial"/>
              </a:rPr>
              <a:t>No overfitting: </a:t>
            </a:r>
            <a:r>
              <a:rPr sz="2500" b="0">
                <a:solidFill>
                  <a:srgbClr val="1B1F24"/>
                </a:solidFill>
                <a:latin typeface="Arial"/>
              </a:rPr>
              <a:t>error on withheld data levels off and never rises (Fig. 3)</a:t>
            </a:r>
          </a:p>
        </p:txBody>
      </p:sp>
      <p:pic>
        <p:nvPicPr>
          <p:cNvPr id="38" name="Picture 37" descr="training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817" y="33388921"/>
            <a:ext cx="6397142" cy="511771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618680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3.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during training on the training data and the withheld months: 5 networks (thin) and their average (thick). Test error ends ~2× the training error; with a random 10% withheld, the curves overlap.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596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0.026%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95%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1E5AA8"/>
                </a:solidFill>
                <a:latin typeface="Arial"/>
              </a:rPr>
              <a:t>≤0.04%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29544" y="11178540"/>
            <a:ext cx="11152750" cy="557637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84635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4. </a:t>
            </a:r>
            <a:r>
              <a:rPr sz="2200" b="0">
                <a:solidFill>
                  <a:srgbClr val="4A5563"/>
                </a:solidFill>
                <a:latin typeface="Arial"/>
              </a:rPr>
              <a:t>Network vs. ZodiPy on the two 30-day blocks never used in training (days 30–60 and 90–120; 180,166 pointings). Half of the errors are below 0.026%, 95% below 0.1%.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236440" y="17710463"/>
            <a:ext cx="14538960" cy="148193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Robust: </a:t>
            </a:r>
            <a:r>
              <a:rPr sz="2600" b="0">
                <a:solidFill>
                  <a:srgbClr val="1B1F24"/>
                </a:solidFill>
                <a:latin typeface="Arial"/>
              </a:rPr>
              <a:t>six versions with different withheld months all reach 0.023–0.037% (Fig. 5)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Harder: </a:t>
            </a:r>
            <a:r>
              <a:rPr sz="2600" b="0">
                <a:solidFill>
                  <a:srgbClr val="1B1F24"/>
                </a:solidFill>
                <a:latin typeface="Arial"/>
              </a:rPr>
              <a:t>predicting past the start or end of the data (orange): fine for ~10 days, then errors grow</a:t>
            </a:r>
          </a:p>
        </p:txBody>
      </p:sp>
      <p:pic>
        <p:nvPicPr>
          <p:cNvPr id="55" name="Picture 54" descr="shifts_ligh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29544" y="19306700"/>
            <a:ext cx="11152750" cy="501873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7236440" y="24416878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5. </a:t>
            </a:r>
            <a:r>
              <a:rPr sz="2200" b="0">
                <a:solidFill>
                  <a:srgbClr val="4A5563"/>
                </a:solidFill>
                <a:latin typeface="Arial"/>
              </a:rPr>
              <a:t>Six versions of the test, sliding the withheld months 10 days at a time. Right: median error on the red days (orange: start/end of the mission).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236440" y="25280986"/>
            <a:ext cx="14538960" cy="10539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Largest errors: </a:t>
            </a:r>
            <a:r>
              <a:rPr sz="2600" b="0">
                <a:solidFill>
                  <a:srgbClr val="1B1F24"/>
                </a:solidFill>
                <a:latin typeface="Arial"/>
              </a:rPr>
              <a:t>along the plane of the planets, where the dust bands are (0.09%; 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8C0B42"/>
              </a:buClr>
              <a:buFont typeface="Arial"/>
              <a:buChar char="•"/>
            </a:pPr>
            <a:r>
              <a:rPr sz="2600" b="1">
                <a:solidFill>
                  <a:srgbClr val="1B1F24"/>
                </a:solidFill>
                <a:latin typeface="Arial"/>
              </a:rPr>
              <a:t>Smallest: </a:t>
            </a:r>
            <a:r>
              <a:rPr sz="2600" b="0">
                <a:solidFill>
                  <a:srgbClr val="1B1F24"/>
                </a:solidFill>
                <a:latin typeface="Arial"/>
              </a:rPr>
              <a:t>toward the poles (0.016%)</a:t>
            </a:r>
          </a:p>
        </p:txBody>
      </p:sp>
      <p:pic>
        <p:nvPicPr>
          <p:cNvPr id="58" name="Picture 57" descr="skyerror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929544" y="26449285"/>
            <a:ext cx="11152750" cy="565072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236440" y="3219145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4A5563"/>
                </a:solidFill>
                <a:latin typeface="Arial"/>
              </a:rPr>
              <a:t>Figure 6. </a:t>
            </a:r>
            <a:r>
              <a:rPr sz="2200" b="0">
                <a:solidFill>
                  <a:srgbClr val="4A5563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824960" y="33604200"/>
            <a:ext cx="15361920" cy="662940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824960" y="3360420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824960" y="3360420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7236440" y="34838640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465040" y="34838640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2E7D32"/>
                </a:solidFill>
                <a:latin typeface="Arial"/>
              </a:rPr>
              <a:t>Validate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42680" y="34838640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6" name="Down Arrow 65"/>
          <p:cNvSpPr/>
          <p:nvPr/>
        </p:nvSpPr>
        <p:spPr>
          <a:xfrm>
            <a:off x="24231600" y="35890200"/>
            <a:ext cx="548640" cy="182880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7236440" y="36100512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E0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65040" y="36100512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08A00"/>
                </a:solidFill>
                <a:latin typeface="Arial"/>
              </a:rPr>
              <a:t>Refine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42680" y="36100512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24231600" y="37152071"/>
            <a:ext cx="548640" cy="182880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7236440" y="37362383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7465040" y="37362383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Scale up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442680" y="37362383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4" name="Down Arrow 73"/>
          <p:cNvSpPr/>
          <p:nvPr/>
        </p:nvSpPr>
        <p:spPr>
          <a:xfrm>
            <a:off x="24231600" y="38413943"/>
            <a:ext cx="548640" cy="182880"/>
          </a:xfrm>
          <a:prstGeom prst="downArrow">
            <a:avLst/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7236440" y="38624255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63500">
            <a:solidFill>
              <a:srgbClr val="5A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7465040" y="38624255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5A6472"/>
                </a:solidFill>
                <a:latin typeface="Arial"/>
              </a:rPr>
              <a:t>Real data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442680" y="38624255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B1F24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36440" y="39721535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4A5563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2" name="Picture 81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1B1F24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FFFFFF"/>
          </a:solidFill>
          <a:ln w="38100">
            <a:solidFill>
              <a:srgbClr val="1E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1B1F24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