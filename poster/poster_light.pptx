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2918400" cy="43891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with mentor]</a:t>
            </a:r>
          </a:p>
          <a:p>
            <a:r>
              <a:t>- Problem statement: 'physics models such as Kelsall's were fit to older data and leave errors behind' -- right framing?</a:t>
            </a:r>
          </a:p>
          <a:p>
            <a:r>
              <a:t>- Acknowledgment: exact name of the URS grant/program and the NSF award number (if one should be listed).</a:t>
            </a:r>
          </a:p>
          <a:p>
            <a:r>
              <a:t>- Author line: middle initial / 'Dr.' style for the mentor.</a:t>
            </a:r>
          </a:p>
          <a:p>
            <a:r>
              <a:t>- Fig. 2: Jupiter and the Moon are drawn for context; the poster's model inputs are n.S n.z n.E n.vS n.vE n.x_E n.y_E sin/cos(lambda_E) (no Jupiter, no Moon).</a:t>
            </a:r>
          </a:p>
          <a:p>
            <a:r>
              <a:t>Numbers (poster/data_accuracy.jl, data_blocks.jl): 5-network ensemble, 64-64-32-16 gelu.</a:t>
            </a:r>
          </a:p>
          <a:p>
            <a:r>
              <a:t>  Trained on days 0-30, 60-90, 120-140; tested on days 30-60, 90-120 (180,166 pointings, 43%): median 0.026%, p95 0.10%, 94.8% within 0.1%, RMS 0.058%.</a:t>
            </a:r>
          </a:p>
          <a:p>
            <a:r>
              <a:t>  Random 10% withheld: median 0.015%. Last 20% of the mission (days 111-140, older season inputs): median 0.10%, p95 0.67%.</a:t>
            </a:r>
          </a:p>
          <a:p>
            <a:r>
              <a:t>  Errors are relative to ZodiPy (the Kelsall model), not the real sky.</a:t>
            </a:r>
          </a:p>
          <a:p>
            <a:r>
              <a:t>- Multi-wavelength: round-15 'ep300' ensemble, 30-day blocks, 1.25-5.0 um (poster/data_spectra.jl).</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Rectangle 1"/>
          <p:cNvSpPr/>
          <p:nvPr/>
        </p:nvSpPr>
        <p:spPr>
          <a:xfrm>
            <a:off x="0" y="0"/>
            <a:ext cx="32918400" cy="5120640"/>
          </a:xfrm>
          <a:prstGeom prst="rect">
            <a:avLst/>
          </a:prstGeom>
          <a:solidFill>
            <a:srgbClr val="1E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1.png"/>
          <p:cNvPicPr>
            <a:picLocks noChangeAspect="1"/>
          </p:cNvPicPr>
          <p:nvPr/>
        </p:nvPicPr>
        <p:blipFill>
          <a:blip r:embed="rId2"/>
          <a:stretch>
            <a:fillRect/>
          </a:stretch>
        </p:blipFill>
        <p:spPr>
          <a:xfrm>
            <a:off x="822960" y="502920"/>
            <a:ext cx="3657600" cy="4114800"/>
          </a:xfrm>
          <a:prstGeom prst="rect">
            <a:avLst/>
          </a:prstGeom>
        </p:spPr>
      </p:pic>
      <p:pic>
        <p:nvPicPr>
          <p:cNvPr id="4" name="Picture 3" descr="logo2.png"/>
          <p:cNvPicPr>
            <a:picLocks noChangeAspect="1"/>
          </p:cNvPicPr>
          <p:nvPr/>
        </p:nvPicPr>
        <p:blipFill>
          <a:blip r:embed="rId3"/>
          <a:stretch>
            <a:fillRect/>
          </a:stretch>
        </p:blipFill>
        <p:spPr>
          <a:xfrm>
            <a:off x="27889200" y="457200"/>
            <a:ext cx="4213262" cy="4206240"/>
          </a:xfrm>
          <a:prstGeom prst="rect">
            <a:avLst/>
          </a:prstGeom>
        </p:spPr>
      </p:pic>
      <p:sp>
        <p:nvSpPr>
          <p:cNvPr id="5" name="TextBox 4"/>
          <p:cNvSpPr txBox="1"/>
          <p:nvPr/>
        </p:nvSpPr>
        <p:spPr>
          <a:xfrm>
            <a:off x="5486400" y="182880"/>
            <a:ext cx="21945600" cy="2377440"/>
          </a:xfrm>
          <a:prstGeom prst="rect">
            <a:avLst/>
          </a:prstGeom>
          <a:noFill/>
        </p:spPr>
        <p:txBody>
          <a:bodyPr wrap="square" anchor="ctr" lIns="45720" rIns="45720" tIns="18288" bIns="18288">
            <a:spAutoFit/>
          </a:bodyPr>
          <a:lstStyle/>
          <a:p>
            <a:pPr algn="ctr">
              <a:lnSpc>
                <a:spcPct val="92000"/>
              </a:lnSpc>
              <a:spcAft>
                <a:spcPts val="0"/>
              </a:spcAft>
            </a:pPr>
            <a:r>
              <a:rPr sz="8000" b="1">
                <a:solidFill>
                  <a:srgbClr val="FFFFFF"/>
                </a:solidFill>
                <a:latin typeface="Arial"/>
              </a:rPr>
              <a:t>Teaching a Neural Network the Glow of the Solar System</a:t>
            </a:r>
          </a:p>
        </p:txBody>
      </p:sp>
      <p:sp>
        <p:nvSpPr>
          <p:cNvPr id="6" name="TextBox 5"/>
          <p:cNvSpPr txBox="1"/>
          <p:nvPr/>
        </p:nvSpPr>
        <p:spPr>
          <a:xfrm>
            <a:off x="5486400" y="2560320"/>
            <a:ext cx="21945600" cy="731520"/>
          </a:xfrm>
          <a:prstGeom prst="rect">
            <a:avLst/>
          </a:prstGeom>
          <a:noFill/>
        </p:spPr>
        <p:txBody>
          <a:bodyPr wrap="square" anchor="ctr" lIns="45720" rIns="45720" tIns="18288" bIns="18288">
            <a:spAutoFit/>
          </a:bodyPr>
          <a:lstStyle/>
          <a:p>
            <a:pPr algn="ctr">
              <a:lnSpc>
                <a:spcPct val="112000"/>
              </a:lnSpc>
              <a:spcAft>
                <a:spcPts val="0"/>
              </a:spcAft>
            </a:pPr>
            <a:r>
              <a:rPr sz="4000" b="0">
                <a:solidFill>
                  <a:srgbClr val="FFD27A"/>
                </a:solidFill>
                <a:latin typeface="Arial"/>
              </a:rPr>
              <a:t>A geometrically constrained model of zodiacal light for NASA's SPHEREx mission</a:t>
            </a:r>
          </a:p>
        </p:txBody>
      </p:sp>
      <p:sp>
        <p:nvSpPr>
          <p:cNvPr id="7" name="TextBox 6"/>
          <p:cNvSpPr txBox="1"/>
          <p:nvPr/>
        </p:nvSpPr>
        <p:spPr>
          <a:xfrm>
            <a:off x="5486400" y="3337560"/>
            <a:ext cx="21945600" cy="1600200"/>
          </a:xfrm>
          <a:prstGeom prst="rect">
            <a:avLst/>
          </a:prstGeom>
          <a:noFill/>
        </p:spPr>
        <p:txBody>
          <a:bodyPr wrap="square" anchor="ctr" lIns="45720" rIns="45720" tIns="18288" bIns="18288">
            <a:spAutoFit/>
          </a:bodyPr>
          <a:lstStyle/>
          <a:p>
            <a:pPr algn="ctr">
              <a:lnSpc>
                <a:spcPct val="112000"/>
              </a:lnSpc>
              <a:spcAft>
                <a:spcPts val="200"/>
              </a:spcAft>
            </a:pPr>
            <a:r>
              <a:rPr sz="3400" b="0">
                <a:solidFill>
                  <a:srgbClr val="FFFFFF"/>
                </a:solidFill>
                <a:latin typeface="Arial"/>
              </a:rPr>
              <a:t>Mark A. Burch and Dr. Andrew Saydjari</a:t>
            </a:r>
          </a:p>
          <a:p>
            <a:pPr algn="ctr">
              <a:lnSpc>
                <a:spcPct val="112000"/>
              </a:lnSpc>
              <a:spcAft>
                <a:spcPts val="200"/>
              </a:spcAft>
            </a:pPr>
            <a:r>
              <a:rPr sz="3400" b="0">
                <a:solidFill>
                  <a:srgbClr val="FFFFFF"/>
                </a:solidFill>
                <a:latin typeface="Arial"/>
              </a:rPr>
              <a:t>Astronomy Department, New Mexico State University, Las Cruces, NM</a:t>
            </a:r>
          </a:p>
        </p:txBody>
      </p:sp>
      <p:sp>
        <p:nvSpPr>
          <p:cNvPr id="8" name="Rounded Rectangle 7"/>
          <p:cNvSpPr/>
          <p:nvPr/>
        </p:nvSpPr>
        <p:spPr>
          <a:xfrm>
            <a:off x="731520" y="5486400"/>
            <a:ext cx="31455360" cy="1371600"/>
          </a:xfrm>
          <a:prstGeom prst="roundRect">
            <a:avLst>
              <a:gd name="adj" fmla="val 25000"/>
            </a:avLst>
          </a:prstGeom>
          <a:solidFill>
            <a:srgbClr val="8C0B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5486400"/>
            <a:ext cx="30358079" cy="1371600"/>
          </a:xfrm>
          <a:prstGeom prst="rect">
            <a:avLst/>
          </a:prstGeom>
          <a:noFill/>
        </p:spPr>
        <p:txBody>
          <a:bodyPr wrap="square" anchor="ctr" lIns="45720" rIns="45720" tIns="18288" bIns="18288">
            <a:spAutoFit/>
          </a:bodyPr>
          <a:lstStyle/>
          <a:p>
            <a:pPr algn="ctr">
              <a:lnSpc>
                <a:spcPct val="100000"/>
              </a:lnSpc>
              <a:spcAft>
                <a:spcPts val="0"/>
              </a:spcAft>
            </a:pPr>
            <a:r>
              <a:rPr sz="4000" b="1">
                <a:solidFill>
                  <a:srgbClr val="FFFFFF"/>
                </a:solidFill>
                <a:latin typeface="Arial"/>
              </a:rPr>
              <a:t>A geometrically constrained neural network learns the zodiacal light from viewing geometry alone, reaching ~0.03% median error on months it never saw.</a:t>
            </a:r>
          </a:p>
        </p:txBody>
      </p:sp>
      <p:sp>
        <p:nvSpPr>
          <p:cNvPr id="10" name="Rectangle 9"/>
          <p:cNvSpPr/>
          <p:nvPr/>
        </p:nvSpPr>
        <p:spPr>
          <a:xfrm>
            <a:off x="731520" y="7223760"/>
            <a:ext cx="15361920" cy="10561319"/>
          </a:xfrm>
          <a:prstGeom prst="rect">
            <a:avLst/>
          </a:prstGeom>
          <a:solidFill>
            <a:srgbClr val="FFFFFF"/>
          </a:solidFill>
          <a:ln w="38100">
            <a:solidFill>
              <a:srgbClr val="1E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7223760"/>
            <a:ext cx="15361920" cy="1051560"/>
          </a:xfrm>
          <a:prstGeom prst="rect">
            <a:avLst/>
          </a:prstGeom>
          <a:solidFill>
            <a:srgbClr val="1E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7223760"/>
            <a:ext cx="15361920" cy="1051560"/>
          </a:xfrm>
          <a:prstGeom prst="rect">
            <a:avLst/>
          </a:prstGeom>
          <a:noFill/>
        </p:spPr>
        <p:txBody>
          <a:bodyPr wrap="square" anchor="ctr" lIns="45720" rIns="45720" tIns="18288" bIns="18288">
            <a:spAutoFit/>
          </a:bodyPr>
          <a:lstStyle/>
          <a:p>
            <a:pPr algn="ctr">
              <a:lnSpc>
                <a:spcPct val="112000"/>
              </a:lnSpc>
              <a:spcAft>
                <a:spcPts val="0"/>
              </a:spcAft>
            </a:pPr>
            <a:r>
              <a:rPr sz="5000" b="1">
                <a:solidFill>
                  <a:srgbClr val="FFFFFF"/>
                </a:solidFill>
                <a:latin typeface="Arial"/>
              </a:rPr>
              <a:t>Background</a:t>
            </a:r>
          </a:p>
        </p:txBody>
      </p:sp>
      <p:sp>
        <p:nvSpPr>
          <p:cNvPr id="13" name="TextBox 12"/>
          <p:cNvSpPr txBox="1"/>
          <p:nvPr/>
        </p:nvSpPr>
        <p:spPr>
          <a:xfrm>
            <a:off x="1143000" y="8595360"/>
            <a:ext cx="14538960" cy="2011680"/>
          </a:xfrm>
          <a:prstGeom prst="rect">
            <a:avLst/>
          </a:prstGeom>
          <a:noFill/>
        </p:spPr>
        <p:txBody>
          <a:bodyPr wrap="square" anchor="t" lIns="45720" rIns="45720" tIns="18288" bIns="18288">
            <a:spAutoFit/>
          </a:bodyPr>
          <a:lstStyle/>
          <a:p>
            <a:pPr algn="l">
              <a:lnSpc>
                <a:spcPct val="112000"/>
              </a:lnSpc>
              <a:spcAft>
                <a:spcPts val="1000"/>
              </a:spcAft>
            </a:pPr>
            <a:r>
              <a:rPr sz="2800" b="1">
                <a:solidFill>
                  <a:srgbClr val="1B1F24"/>
                </a:solidFill>
                <a:latin typeface="Arial"/>
              </a:rPr>
              <a:t>SPHEREx</a:t>
            </a:r>
            <a:r>
              <a:rPr sz="2800" b="0">
                <a:solidFill>
                  <a:srgbClr val="1B1F24"/>
                </a:solidFill>
                <a:latin typeface="Arial"/>
              </a:rPr>
              <a:t> is a NASA space telescope, launched in March 2025, that maps the </a:t>
            </a:r>
            <a:r>
              <a:rPr sz="2800" b="1">
                <a:solidFill>
                  <a:srgbClr val="1B1F24"/>
                </a:solidFill>
                <a:latin typeface="Arial"/>
              </a:rPr>
              <a:t>entire sky across a range of infrared wavelengths</a:t>
            </a:r>
            <a:r>
              <a:rPr sz="2800" b="0">
                <a:solidFill>
                  <a:srgbClr val="1B1F24"/>
                </a:solidFill>
                <a:latin typeface="Arial"/>
              </a:rPr>
              <a:t> (0.75–5 μm). Its maps will help explain how the universe began, how galaxies formed, and where water and other ingredients for life are found.</a:t>
            </a:r>
          </a:p>
        </p:txBody>
      </p:sp>
      <p:sp>
        <p:nvSpPr>
          <p:cNvPr id="14" name="TextBox 13"/>
          <p:cNvSpPr txBox="1"/>
          <p:nvPr/>
        </p:nvSpPr>
        <p:spPr>
          <a:xfrm>
            <a:off x="1143000" y="10652760"/>
            <a:ext cx="6833311" cy="6949439"/>
          </a:xfrm>
          <a:prstGeom prst="rect">
            <a:avLst/>
          </a:prstGeom>
          <a:noFill/>
        </p:spPr>
        <p:txBody>
          <a:bodyPr wrap="square" anchor="t" lIns="45720" rIns="45720" tIns="18288" bIns="18288">
            <a:spAutoFit/>
          </a:bodyPr>
          <a:lstStyle/>
          <a:p>
            <a:pPr algn="l">
              <a:lnSpc>
                <a:spcPct val="108000"/>
              </a:lnSpc>
              <a:spcAft>
                <a:spcPts val="800"/>
              </a:spcAft>
            </a:pPr>
            <a:r>
              <a:rPr sz="2500" b="1">
                <a:solidFill>
                  <a:srgbClr val="1B1F24"/>
                </a:solidFill>
                <a:latin typeface="Arial"/>
              </a:rPr>
              <a:t>Zodiacal light. </a:t>
            </a:r>
            <a:r>
              <a:rPr sz="2500" b="0">
                <a:solidFill>
                  <a:srgbClr val="1B1F24"/>
                </a:solidFill>
                <a:latin typeface="Arial"/>
              </a:rPr>
              <a:t>The Solar System is filled with a thin cloud of dust from comets and asteroids. Sunlight scattered by this dust, plus the dust's own heat glow, adds a smooth glow across every SPHEREx image (Fig. 1). It is bright enough to be confused with the faint background light from distant galaxies, and it changes with where the telescope looks and where Earth is in its orbit, so it must be carefully modeled and removed.</a:t>
            </a:r>
          </a:p>
          <a:p>
            <a:pPr algn="l">
              <a:lnSpc>
                <a:spcPct val="108000"/>
              </a:lnSpc>
              <a:spcAft>
                <a:spcPts val="800"/>
              </a:spcAft>
            </a:pPr>
            <a:r>
              <a:rPr sz="2500" b="1">
                <a:solidFill>
                  <a:srgbClr val="1B1F24"/>
                </a:solidFill>
                <a:latin typeface="Arial"/>
              </a:rPr>
              <a:t>The Kelsall model. </a:t>
            </a:r>
            <a:r>
              <a:rPr sz="2500" b="0">
                <a:solidFill>
                  <a:srgbClr val="1B1F24"/>
                </a:solidFill>
                <a:latin typeface="Arial"/>
              </a:rPr>
              <a:t>Kelsall et al. (1998) built the standard model of this dust from NASA's COBE satellite: a smooth cloud, three dust bands, a ring around the Sun and a clump trailing Earth. The software </a:t>
            </a:r>
            <a:r>
              <a:rPr sz="2500" b="1">
                <a:solidFill>
                  <a:srgbClr val="1B1F24"/>
                </a:solidFill>
                <a:latin typeface="Arial"/>
              </a:rPr>
              <a:t>ZodiPy</a:t>
            </a:r>
            <a:r>
              <a:rPr sz="2500" b="0">
                <a:solidFill>
                  <a:srgbClr val="1B1F24"/>
                </a:solidFill>
                <a:latin typeface="Arial"/>
              </a:rPr>
              <a:t> computes what a telescope would see from it; we use it to simulate SPHEREx data.</a:t>
            </a:r>
          </a:p>
        </p:txBody>
      </p:sp>
      <p:pic>
        <p:nvPicPr>
          <p:cNvPr id="15" name="Picture 14" descr="sky_light.png"/>
          <p:cNvPicPr>
            <a:picLocks noChangeAspect="1"/>
          </p:cNvPicPr>
          <p:nvPr/>
        </p:nvPicPr>
        <p:blipFill>
          <a:blip r:embed="rId4"/>
          <a:stretch>
            <a:fillRect/>
          </a:stretch>
        </p:blipFill>
        <p:spPr>
          <a:xfrm>
            <a:off x="8296351" y="10835640"/>
            <a:ext cx="7385608" cy="4431365"/>
          </a:xfrm>
          <a:prstGeom prst="rect">
            <a:avLst/>
          </a:prstGeom>
        </p:spPr>
      </p:pic>
      <p:sp>
        <p:nvSpPr>
          <p:cNvPr id="16" name="TextBox 15"/>
          <p:cNvSpPr txBox="1"/>
          <p:nvPr/>
        </p:nvSpPr>
        <p:spPr>
          <a:xfrm>
            <a:off x="8296351" y="15358445"/>
            <a:ext cx="7385608" cy="1463040"/>
          </a:xfrm>
          <a:prstGeom prst="rect">
            <a:avLst/>
          </a:prstGeom>
          <a:noFill/>
        </p:spPr>
        <p:txBody>
          <a:bodyPr wrap="square" anchor="t" lIns="45720" rIns="45720" tIns="18288" bIns="18288">
            <a:spAutoFit/>
          </a:bodyPr>
          <a:lstStyle/>
          <a:p>
            <a:pPr algn="l">
              <a:lnSpc>
                <a:spcPct val="105000"/>
              </a:lnSpc>
              <a:spcAft>
                <a:spcPts val="1000"/>
              </a:spcAft>
            </a:pPr>
            <a:r>
              <a:rPr sz="2200" b="1">
                <a:solidFill>
                  <a:srgbClr val="4A5563"/>
                </a:solidFill>
                <a:latin typeface="Arial"/>
              </a:rPr>
              <a:t>Figure 1. </a:t>
            </a:r>
            <a:r>
              <a:rPr sz="2200" b="0">
                <a:solidFill>
                  <a:srgbClr val="4A5563"/>
                </a:solidFill>
                <a:latin typeface="Arial"/>
              </a:rPr>
              <a:t>The whole sky at 5 μm as seen from SPHEREx (ZodiPy). The glow is brightest toward the Sun and along the plane of the planets. Grey: too close to the Sun to observe.</a:t>
            </a:r>
          </a:p>
        </p:txBody>
      </p:sp>
      <p:sp>
        <p:nvSpPr>
          <p:cNvPr id="17" name="Rectangle 16"/>
          <p:cNvSpPr/>
          <p:nvPr/>
        </p:nvSpPr>
        <p:spPr>
          <a:xfrm>
            <a:off x="731520" y="18196560"/>
            <a:ext cx="15361920" cy="3063240"/>
          </a:xfrm>
          <a:prstGeom prst="rect">
            <a:avLst/>
          </a:prstGeom>
          <a:solidFill>
            <a:srgbClr val="FFF4E0"/>
          </a:solidFill>
          <a:ln w="76200">
            <a:solidFill>
              <a:srgbClr val="E0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18425160"/>
            <a:ext cx="14538960" cy="2697480"/>
          </a:xfrm>
          <a:prstGeom prst="rect">
            <a:avLst/>
          </a:prstGeom>
          <a:noFill/>
        </p:spPr>
        <p:txBody>
          <a:bodyPr wrap="square" anchor="t" lIns="45720" rIns="45720" tIns="18288" bIns="18288">
            <a:spAutoFit/>
          </a:bodyPr>
          <a:lstStyle/>
          <a:p>
            <a:pPr algn="l">
              <a:lnSpc>
                <a:spcPct val="112000"/>
              </a:lnSpc>
              <a:spcAft>
                <a:spcPts val="1200"/>
              </a:spcAft>
            </a:pPr>
            <a:r>
              <a:rPr sz="2800" b="1">
                <a:solidFill>
                  <a:srgbClr val="1B1F24"/>
                </a:solidFill>
                <a:latin typeface="Arial"/>
              </a:rPr>
              <a:t>The problem: </a:t>
            </a:r>
            <a:r>
              <a:rPr sz="2800" b="0">
                <a:solidFill>
                  <a:srgbClr val="1B1F24"/>
                </a:solidFill>
                <a:latin typeface="Arial"/>
              </a:rPr>
              <a:t>zodiacal light must be removed from every SPHEREx image, but physics models such as Kelsall's were fit to older data and leave errors behind.</a:t>
            </a:r>
          </a:p>
          <a:p>
            <a:pPr algn="l">
              <a:lnSpc>
                <a:spcPct val="112000"/>
              </a:lnSpc>
              <a:spcAft>
                <a:spcPts val="1200"/>
              </a:spcAft>
            </a:pPr>
            <a:r>
              <a:rPr sz="2800" b="1">
                <a:solidFill>
                  <a:srgbClr val="1B1F24"/>
                </a:solidFill>
                <a:latin typeface="Arial"/>
              </a:rPr>
              <a:t>Research objective: </a:t>
            </a:r>
            <a:r>
              <a:rPr sz="2800" b="0">
                <a:solidFill>
                  <a:srgbClr val="1B1F24"/>
                </a:solidFill>
                <a:latin typeface="Arial"/>
              </a:rPr>
              <a:t>build a </a:t>
            </a:r>
            <a:r>
              <a:rPr sz="2800" b="1">
                <a:solidFill>
                  <a:srgbClr val="1B1F24"/>
                </a:solidFill>
                <a:latin typeface="Arial"/>
              </a:rPr>
              <a:t>geometrically constrained</a:t>
            </a:r>
            <a:r>
              <a:rPr sz="2800" b="0">
                <a:solidFill>
                  <a:srgbClr val="1B1F24"/>
                </a:solidFill>
                <a:latin typeface="Arial"/>
              </a:rPr>
              <a:t> neural network that learns the zodiacal light directly from SPHEREx data and </a:t>
            </a:r>
            <a:r>
              <a:rPr sz="2800" b="1">
                <a:solidFill>
                  <a:srgbClr val="1B1F24"/>
                </a:solidFill>
                <a:latin typeface="Arial"/>
              </a:rPr>
              <a:t>outperforms the Kelsall model</a:t>
            </a:r>
            <a:r>
              <a:rPr sz="2800" b="0">
                <a:solidFill>
                  <a:srgbClr val="1B1F24"/>
                </a:solidFill>
                <a:latin typeface="Arial"/>
              </a:rPr>
              <a:t>. First step (this poster): show that it can learn ZodiPy's simulated sky from geometry alone.</a:t>
            </a:r>
          </a:p>
        </p:txBody>
      </p:sp>
      <p:sp>
        <p:nvSpPr>
          <p:cNvPr id="19" name="Rectangle 18"/>
          <p:cNvSpPr/>
          <p:nvPr/>
        </p:nvSpPr>
        <p:spPr>
          <a:xfrm>
            <a:off x="731520" y="21671280"/>
            <a:ext cx="15361920" cy="18562320"/>
          </a:xfrm>
          <a:prstGeom prst="rect">
            <a:avLst/>
          </a:prstGeom>
          <a:solidFill>
            <a:srgbClr val="FFFFFF"/>
          </a:solidFill>
          <a:ln w="38100">
            <a:solidFill>
              <a:srgbClr val="1E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21671280"/>
            <a:ext cx="15361920" cy="1051560"/>
          </a:xfrm>
          <a:prstGeom prst="rect">
            <a:avLst/>
          </a:prstGeom>
          <a:solidFill>
            <a:srgbClr val="1E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1671280"/>
            <a:ext cx="15361920" cy="1051560"/>
          </a:xfrm>
          <a:prstGeom prst="rect">
            <a:avLst/>
          </a:prstGeom>
          <a:noFill/>
        </p:spPr>
        <p:txBody>
          <a:bodyPr wrap="square" anchor="ctr" lIns="45720" rIns="45720" tIns="18288" bIns="18288">
            <a:spAutoFit/>
          </a:bodyPr>
          <a:lstStyle/>
          <a:p>
            <a:pPr algn="ctr">
              <a:lnSpc>
                <a:spcPct val="112000"/>
              </a:lnSpc>
              <a:spcAft>
                <a:spcPts val="0"/>
              </a:spcAft>
            </a:pPr>
            <a:r>
              <a:rPr sz="5000" b="1">
                <a:solidFill>
                  <a:srgbClr val="FFFFFF"/>
                </a:solidFill>
                <a:latin typeface="Arial"/>
              </a:rPr>
              <a:t>Methods</a:t>
            </a:r>
          </a:p>
        </p:txBody>
      </p:sp>
      <p:sp>
        <p:nvSpPr>
          <p:cNvPr id="22" name="TextBox 21"/>
          <p:cNvSpPr txBox="1"/>
          <p:nvPr/>
        </p:nvSpPr>
        <p:spPr>
          <a:xfrm>
            <a:off x="1143000" y="23042880"/>
            <a:ext cx="14538960" cy="2377440"/>
          </a:xfrm>
          <a:prstGeom prst="rect">
            <a:avLst/>
          </a:prstGeom>
          <a:noFill/>
        </p:spPr>
        <p:txBody>
          <a:bodyPr wrap="square" anchor="t" lIns="45720" rIns="45720" tIns="18288" bIns="18288">
            <a:spAutoFit/>
          </a:bodyPr>
          <a:lstStyle/>
          <a:p>
            <a:pPr algn="l">
              <a:lnSpc>
                <a:spcPct val="112000"/>
              </a:lnSpc>
              <a:spcAft>
                <a:spcPts val="1000"/>
              </a:spcAft>
            </a:pPr>
            <a:r>
              <a:rPr sz="2700" b="1">
                <a:solidFill>
                  <a:srgbClr val="1B1F24"/>
                </a:solidFill>
                <a:latin typeface="Arial"/>
              </a:rPr>
              <a:t>A geometrically constrained model. </a:t>
            </a:r>
            <a:r>
              <a:rPr sz="2700" b="0">
                <a:solidFill>
                  <a:srgbClr val="1B1F24"/>
                </a:solidFill>
                <a:latin typeface="Arial"/>
              </a:rPr>
              <a:t>The network never sees a date or a position on a sky map. Its only inputs are 9 numbers describing the viewing geometry (Fig. 2): dot products of SPHEREx's look direction n with the directions that shape the zodiacal light, plus Earth's place in its orbit. It must learn how the brightness depends on geometry, just as the physics does, instead of memorizing when and where SPHEREx looked.</a:t>
            </a:r>
          </a:p>
        </p:txBody>
      </p:sp>
      <p:pic>
        <p:nvPicPr>
          <p:cNvPr id="23" name="Picture 22" descr="geometry_light.png"/>
          <p:cNvPicPr>
            <a:picLocks noChangeAspect="1"/>
          </p:cNvPicPr>
          <p:nvPr/>
        </p:nvPicPr>
        <p:blipFill>
          <a:blip r:embed="rId5"/>
          <a:stretch>
            <a:fillRect/>
          </a:stretch>
        </p:blipFill>
        <p:spPr>
          <a:xfrm>
            <a:off x="2596896" y="25466039"/>
            <a:ext cx="11631168" cy="7909194"/>
          </a:xfrm>
          <a:prstGeom prst="rect">
            <a:avLst/>
          </a:prstGeom>
        </p:spPr>
      </p:pic>
      <p:sp>
        <p:nvSpPr>
          <p:cNvPr id="24" name="TextBox 23"/>
          <p:cNvSpPr txBox="1"/>
          <p:nvPr/>
        </p:nvSpPr>
        <p:spPr>
          <a:xfrm>
            <a:off x="1143000" y="33420954"/>
            <a:ext cx="14538960" cy="1188720"/>
          </a:xfrm>
          <a:prstGeom prst="rect">
            <a:avLst/>
          </a:prstGeom>
          <a:noFill/>
        </p:spPr>
        <p:txBody>
          <a:bodyPr wrap="square" anchor="t" lIns="45720" rIns="45720" tIns="18288" bIns="18288">
            <a:spAutoFit/>
          </a:bodyPr>
          <a:lstStyle/>
          <a:p>
            <a:pPr algn="l">
              <a:lnSpc>
                <a:spcPct val="105000"/>
              </a:lnSpc>
              <a:spcAft>
                <a:spcPts val="1000"/>
              </a:spcAft>
            </a:pPr>
            <a:r>
              <a:rPr sz="2200" b="1">
                <a:solidFill>
                  <a:srgbClr val="4A5563"/>
                </a:solidFill>
                <a:latin typeface="Arial"/>
              </a:rPr>
              <a:t>Figure 2. </a:t>
            </a:r>
            <a:r>
              <a:rPr sz="2200" b="0">
                <a:solidFill>
                  <a:srgbClr val="4A5563"/>
                </a:solidFill>
                <a:latin typeface="Arial"/>
              </a:rPr>
              <a:t>The geometry the network sees (top view, not to scale). n is where SPHEREx looks; S and E point from the Sun to SPHEREx and Earth; v is the orbital motion; λ⊕ is Earth's angle around its orbit. Jupiter and the Moon are shown for context: the final model uses only the Sun–Earth–SPHEREx geometry and the time of year.</a:t>
            </a:r>
          </a:p>
        </p:txBody>
      </p:sp>
      <p:sp>
        <p:nvSpPr>
          <p:cNvPr id="25" name="TextBox 24"/>
          <p:cNvSpPr txBox="1"/>
          <p:nvPr/>
        </p:nvSpPr>
        <p:spPr>
          <a:xfrm>
            <a:off x="1143000" y="34701114"/>
            <a:ext cx="14538960" cy="548640"/>
          </a:xfrm>
          <a:prstGeom prst="rect">
            <a:avLst/>
          </a:prstGeom>
          <a:noFill/>
        </p:spPr>
        <p:txBody>
          <a:bodyPr wrap="square" anchor="t" lIns="45720" rIns="45720" tIns="18288" bIns="18288">
            <a:spAutoFit/>
          </a:bodyPr>
          <a:lstStyle/>
          <a:p>
            <a:pPr algn="l">
              <a:lnSpc>
                <a:spcPct val="112000"/>
              </a:lnSpc>
              <a:spcAft>
                <a:spcPts val="0"/>
              </a:spcAft>
            </a:pPr>
            <a:r>
              <a:rPr sz="2800" b="1">
                <a:solidFill>
                  <a:srgbClr val="1E5AA8"/>
                </a:solidFill>
                <a:latin typeface="Arial"/>
              </a:rPr>
              <a:t>The 9 inputs</a:t>
            </a:r>
          </a:p>
        </p:txBody>
      </p:sp>
      <p:sp>
        <p:nvSpPr>
          <p:cNvPr id="26" name="TextBox 25"/>
          <p:cNvSpPr txBox="1"/>
          <p:nvPr/>
        </p:nvSpPr>
        <p:spPr>
          <a:xfrm>
            <a:off x="1325880" y="35249754"/>
            <a:ext cx="3291840" cy="457200"/>
          </a:xfrm>
          <a:prstGeom prst="rect">
            <a:avLst/>
          </a:prstGeom>
          <a:noFill/>
        </p:spPr>
        <p:txBody>
          <a:bodyPr wrap="square" anchor="t" lIns="45720" rIns="45720" tIns="18288" bIns="18288">
            <a:spAutoFit/>
          </a:bodyPr>
          <a:lstStyle/>
          <a:p>
            <a:pPr algn="l">
              <a:lnSpc>
                <a:spcPct val="112000"/>
              </a:lnSpc>
              <a:spcAft>
                <a:spcPts val="0"/>
              </a:spcAft>
            </a:pPr>
            <a:r>
              <a:rPr sz="2400" b="1">
                <a:solidFill>
                  <a:srgbClr val="1E5AA8"/>
                </a:solidFill>
                <a:latin typeface="Arial"/>
              </a:rPr>
              <a:t>n·S, n·E</a:t>
            </a:r>
          </a:p>
        </p:txBody>
      </p:sp>
      <p:sp>
        <p:nvSpPr>
          <p:cNvPr id="27" name="TextBox 26"/>
          <p:cNvSpPr txBox="1"/>
          <p:nvPr/>
        </p:nvSpPr>
        <p:spPr>
          <a:xfrm>
            <a:off x="4617720" y="35249754"/>
            <a:ext cx="11064240" cy="457200"/>
          </a:xfrm>
          <a:prstGeom prst="rect">
            <a:avLst/>
          </a:prstGeom>
          <a:noFill/>
        </p:spPr>
        <p:txBody>
          <a:bodyPr wrap="square" anchor="t" lIns="45720" rIns="45720" tIns="18288" bIns="18288">
            <a:spAutoFit/>
          </a:bodyPr>
          <a:lstStyle/>
          <a:p>
            <a:pPr algn="l">
              <a:lnSpc>
                <a:spcPct val="112000"/>
              </a:lnSpc>
              <a:spcAft>
                <a:spcPts val="0"/>
              </a:spcAft>
            </a:pPr>
            <a:r>
              <a:rPr sz="2400" b="0">
                <a:solidFill>
                  <a:srgbClr val="1B1F24"/>
                </a:solidFill>
                <a:latin typeface="Arial"/>
              </a:rPr>
              <a:t>toward or away from the Sun (seen from SPHEREx and from Earth)</a:t>
            </a:r>
          </a:p>
        </p:txBody>
      </p:sp>
      <p:sp>
        <p:nvSpPr>
          <p:cNvPr id="28" name="TextBox 27"/>
          <p:cNvSpPr txBox="1"/>
          <p:nvPr/>
        </p:nvSpPr>
        <p:spPr>
          <a:xfrm>
            <a:off x="1325880" y="35679522"/>
            <a:ext cx="3291840" cy="457200"/>
          </a:xfrm>
          <a:prstGeom prst="rect">
            <a:avLst/>
          </a:prstGeom>
          <a:noFill/>
        </p:spPr>
        <p:txBody>
          <a:bodyPr wrap="square" anchor="t" lIns="45720" rIns="45720" tIns="18288" bIns="18288">
            <a:spAutoFit/>
          </a:bodyPr>
          <a:lstStyle/>
          <a:p>
            <a:pPr algn="l">
              <a:lnSpc>
                <a:spcPct val="112000"/>
              </a:lnSpc>
              <a:spcAft>
                <a:spcPts val="0"/>
              </a:spcAft>
            </a:pPr>
            <a:r>
              <a:rPr sz="2400" b="1">
                <a:solidFill>
                  <a:srgbClr val="1E5AA8"/>
                </a:solidFill>
                <a:latin typeface="Arial"/>
              </a:rPr>
              <a:t>n·z</a:t>
            </a:r>
          </a:p>
        </p:txBody>
      </p:sp>
      <p:sp>
        <p:nvSpPr>
          <p:cNvPr id="29" name="TextBox 28"/>
          <p:cNvSpPr txBox="1"/>
          <p:nvPr/>
        </p:nvSpPr>
        <p:spPr>
          <a:xfrm>
            <a:off x="4617720" y="35679522"/>
            <a:ext cx="11064240" cy="457200"/>
          </a:xfrm>
          <a:prstGeom prst="rect">
            <a:avLst/>
          </a:prstGeom>
          <a:noFill/>
        </p:spPr>
        <p:txBody>
          <a:bodyPr wrap="square" anchor="t" lIns="45720" rIns="45720" tIns="18288" bIns="18288">
            <a:spAutoFit/>
          </a:bodyPr>
          <a:lstStyle/>
          <a:p>
            <a:pPr algn="l">
              <a:lnSpc>
                <a:spcPct val="112000"/>
              </a:lnSpc>
              <a:spcAft>
                <a:spcPts val="0"/>
              </a:spcAft>
            </a:pPr>
            <a:r>
              <a:rPr sz="2400" b="0">
                <a:solidFill>
                  <a:srgbClr val="1B1F24"/>
                </a:solidFill>
                <a:latin typeface="Arial"/>
              </a:rPr>
              <a:t>how far above or below the plane of the planets</a:t>
            </a:r>
          </a:p>
        </p:txBody>
      </p:sp>
      <p:sp>
        <p:nvSpPr>
          <p:cNvPr id="30" name="TextBox 29"/>
          <p:cNvSpPr txBox="1"/>
          <p:nvPr/>
        </p:nvSpPr>
        <p:spPr>
          <a:xfrm>
            <a:off x="1325880" y="36109290"/>
            <a:ext cx="3291840" cy="457200"/>
          </a:xfrm>
          <a:prstGeom prst="rect">
            <a:avLst/>
          </a:prstGeom>
          <a:noFill/>
        </p:spPr>
        <p:txBody>
          <a:bodyPr wrap="square" anchor="t" lIns="45720" rIns="45720" tIns="18288" bIns="18288">
            <a:spAutoFit/>
          </a:bodyPr>
          <a:lstStyle/>
          <a:p>
            <a:pPr algn="l">
              <a:lnSpc>
                <a:spcPct val="112000"/>
              </a:lnSpc>
              <a:spcAft>
                <a:spcPts val="0"/>
              </a:spcAft>
            </a:pPr>
            <a:r>
              <a:rPr sz="2400" b="1">
                <a:solidFill>
                  <a:srgbClr val="1E5AA8"/>
                </a:solidFill>
                <a:latin typeface="Arial"/>
              </a:rPr>
              <a:t>n·vS, n·vE</a:t>
            </a:r>
          </a:p>
        </p:txBody>
      </p:sp>
      <p:sp>
        <p:nvSpPr>
          <p:cNvPr id="31" name="TextBox 30"/>
          <p:cNvSpPr txBox="1"/>
          <p:nvPr/>
        </p:nvSpPr>
        <p:spPr>
          <a:xfrm>
            <a:off x="4617720" y="36109290"/>
            <a:ext cx="11064240" cy="457200"/>
          </a:xfrm>
          <a:prstGeom prst="rect">
            <a:avLst/>
          </a:prstGeom>
          <a:noFill/>
        </p:spPr>
        <p:txBody>
          <a:bodyPr wrap="square" anchor="t" lIns="45720" rIns="45720" tIns="18288" bIns="18288">
            <a:spAutoFit/>
          </a:bodyPr>
          <a:lstStyle/>
          <a:p>
            <a:pPr algn="l">
              <a:lnSpc>
                <a:spcPct val="112000"/>
              </a:lnSpc>
              <a:spcAft>
                <a:spcPts val="0"/>
              </a:spcAft>
            </a:pPr>
            <a:r>
              <a:rPr sz="2400" b="0">
                <a:solidFill>
                  <a:srgbClr val="1B1F24"/>
                </a:solidFill>
                <a:latin typeface="Arial"/>
              </a:rPr>
              <a:t>ahead of or behind the orbital motion (SPHEREx, Earth)</a:t>
            </a:r>
          </a:p>
        </p:txBody>
      </p:sp>
      <p:sp>
        <p:nvSpPr>
          <p:cNvPr id="32" name="TextBox 31"/>
          <p:cNvSpPr txBox="1"/>
          <p:nvPr/>
        </p:nvSpPr>
        <p:spPr>
          <a:xfrm>
            <a:off x="1325880" y="36539058"/>
            <a:ext cx="3291840" cy="457200"/>
          </a:xfrm>
          <a:prstGeom prst="rect">
            <a:avLst/>
          </a:prstGeom>
          <a:noFill/>
        </p:spPr>
        <p:txBody>
          <a:bodyPr wrap="square" anchor="t" lIns="45720" rIns="45720" tIns="18288" bIns="18288">
            <a:spAutoFit/>
          </a:bodyPr>
          <a:lstStyle/>
          <a:p>
            <a:pPr algn="l">
              <a:lnSpc>
                <a:spcPct val="112000"/>
              </a:lnSpc>
              <a:spcAft>
                <a:spcPts val="0"/>
              </a:spcAft>
            </a:pPr>
            <a:r>
              <a:rPr sz="2400" b="1">
                <a:solidFill>
                  <a:srgbClr val="1E5AA8"/>
                </a:solidFill>
                <a:latin typeface="Arial"/>
              </a:rPr>
              <a:t>n·x⊕, n·y⊕</a:t>
            </a:r>
          </a:p>
        </p:txBody>
      </p:sp>
      <p:sp>
        <p:nvSpPr>
          <p:cNvPr id="33" name="TextBox 32"/>
          <p:cNvSpPr txBox="1"/>
          <p:nvPr/>
        </p:nvSpPr>
        <p:spPr>
          <a:xfrm>
            <a:off x="4617720" y="36539058"/>
            <a:ext cx="11064240" cy="457200"/>
          </a:xfrm>
          <a:prstGeom prst="rect">
            <a:avLst/>
          </a:prstGeom>
          <a:noFill/>
        </p:spPr>
        <p:txBody>
          <a:bodyPr wrap="square" anchor="t" lIns="45720" rIns="45720" tIns="18288" bIns="18288">
            <a:spAutoFit/>
          </a:bodyPr>
          <a:lstStyle/>
          <a:p>
            <a:pPr algn="l">
              <a:lnSpc>
                <a:spcPct val="112000"/>
              </a:lnSpc>
              <a:spcAft>
                <a:spcPts val="0"/>
              </a:spcAft>
            </a:pPr>
            <a:r>
              <a:rPr sz="2400" b="0">
                <a:solidFill>
                  <a:srgbClr val="1B1F24"/>
                </a:solidFill>
                <a:latin typeface="Arial"/>
              </a:rPr>
              <a:t>look direction in a frame that turns with Earth (x⊕ = Sun → Earth)</a:t>
            </a:r>
          </a:p>
        </p:txBody>
      </p:sp>
      <p:sp>
        <p:nvSpPr>
          <p:cNvPr id="34" name="TextBox 33"/>
          <p:cNvSpPr txBox="1"/>
          <p:nvPr/>
        </p:nvSpPr>
        <p:spPr>
          <a:xfrm>
            <a:off x="1325880" y="36968826"/>
            <a:ext cx="3291840" cy="457200"/>
          </a:xfrm>
          <a:prstGeom prst="rect">
            <a:avLst/>
          </a:prstGeom>
          <a:noFill/>
        </p:spPr>
        <p:txBody>
          <a:bodyPr wrap="square" anchor="t" lIns="45720" rIns="45720" tIns="18288" bIns="18288">
            <a:spAutoFit/>
          </a:bodyPr>
          <a:lstStyle/>
          <a:p>
            <a:pPr algn="l">
              <a:lnSpc>
                <a:spcPct val="112000"/>
              </a:lnSpc>
              <a:spcAft>
                <a:spcPts val="0"/>
              </a:spcAft>
            </a:pPr>
            <a:r>
              <a:rPr sz="2400" b="1">
                <a:solidFill>
                  <a:srgbClr val="1E5AA8"/>
                </a:solidFill>
                <a:latin typeface="Arial"/>
              </a:rPr>
              <a:t>sin λ⊕, cos λ⊕</a:t>
            </a:r>
          </a:p>
        </p:txBody>
      </p:sp>
      <p:sp>
        <p:nvSpPr>
          <p:cNvPr id="35" name="TextBox 34"/>
          <p:cNvSpPr txBox="1"/>
          <p:nvPr/>
        </p:nvSpPr>
        <p:spPr>
          <a:xfrm>
            <a:off x="4617720" y="36968826"/>
            <a:ext cx="11064240" cy="457200"/>
          </a:xfrm>
          <a:prstGeom prst="rect">
            <a:avLst/>
          </a:prstGeom>
          <a:noFill/>
        </p:spPr>
        <p:txBody>
          <a:bodyPr wrap="square" anchor="t" lIns="45720" rIns="45720" tIns="18288" bIns="18288">
            <a:spAutoFit/>
          </a:bodyPr>
          <a:lstStyle/>
          <a:p>
            <a:pPr algn="l">
              <a:lnSpc>
                <a:spcPct val="112000"/>
              </a:lnSpc>
              <a:spcAft>
                <a:spcPts val="0"/>
              </a:spcAft>
            </a:pPr>
            <a:r>
              <a:rPr sz="2400" b="0">
                <a:solidFill>
                  <a:srgbClr val="1B1F24"/>
                </a:solidFill>
                <a:latin typeface="Arial"/>
              </a:rPr>
              <a:t>Earth's position in its orbit: the time of year</a:t>
            </a:r>
          </a:p>
        </p:txBody>
      </p:sp>
      <p:sp>
        <p:nvSpPr>
          <p:cNvPr id="36" name="TextBox 35"/>
          <p:cNvSpPr txBox="1"/>
          <p:nvPr/>
        </p:nvSpPr>
        <p:spPr>
          <a:xfrm>
            <a:off x="1143000" y="37627194"/>
            <a:ext cx="14538960" cy="2469245"/>
          </a:xfrm>
          <a:prstGeom prst="rect">
            <a:avLst/>
          </a:prstGeom>
          <a:noFill/>
        </p:spPr>
        <p:txBody>
          <a:bodyPr wrap="square" anchor="t" lIns="45720" rIns="45720" tIns="18288" bIns="18288">
            <a:spAutoFit/>
          </a:bodyPr>
          <a:lstStyle/>
          <a:p>
            <a:pPr algn="l">
              <a:lnSpc>
                <a:spcPct val="108000"/>
              </a:lnSpc>
              <a:spcAft>
                <a:spcPts val="800"/>
              </a:spcAft>
            </a:pPr>
            <a:r>
              <a:rPr sz="2500" b="1">
                <a:solidFill>
                  <a:srgbClr val="1B1F24"/>
                </a:solidFill>
                <a:latin typeface="Arial"/>
              </a:rPr>
              <a:t>Training and testing. </a:t>
            </a:r>
            <a:r>
              <a:rPr sz="2500" b="0">
                <a:solidFill>
                  <a:srgbClr val="1B1F24"/>
                </a:solidFill>
                <a:latin typeface="Arial"/>
              </a:rPr>
              <a:t>ZodiPy simulates 423,607 SPHEREx pointings (140 days, 5 μm). Five small networks (4 hidden layers, 64 → 16 neurons; Flux.jl in Julia) learn brightness from the 9 inputs and are averaged, then tested on whole months and sky regions they never saw.</a:t>
            </a:r>
          </a:p>
          <a:p>
            <a:pPr algn="l">
              <a:lnSpc>
                <a:spcPct val="108000"/>
              </a:lnSpc>
              <a:spcAft>
                <a:spcPts val="800"/>
              </a:spcAft>
            </a:pPr>
            <a:r>
              <a:rPr sz="2500" b="1">
                <a:solidFill>
                  <a:srgbClr val="1B1F24"/>
                </a:solidFill>
                <a:latin typeface="Arial"/>
              </a:rPr>
              <a:t>Lesson: </a:t>
            </a:r>
            <a:r>
              <a:rPr sz="2500" b="0">
                <a:solidFill>
                  <a:srgbClr val="1B1F24"/>
                </a:solidFill>
                <a:latin typeface="Arial"/>
              </a:rPr>
              <a:t>adding the time of year (sin λ⊕, cos λ⊕) cut the errors about 40–65×.</a:t>
            </a:r>
          </a:p>
        </p:txBody>
      </p:sp>
      <p:sp>
        <p:nvSpPr>
          <p:cNvPr id="37" name="Rectangle 36"/>
          <p:cNvSpPr/>
          <p:nvPr/>
        </p:nvSpPr>
        <p:spPr>
          <a:xfrm>
            <a:off x="16824960" y="7223760"/>
            <a:ext cx="15361920" cy="24505920"/>
          </a:xfrm>
          <a:prstGeom prst="rect">
            <a:avLst/>
          </a:prstGeom>
          <a:solidFill>
            <a:srgbClr val="FFFFFF"/>
          </a:solidFill>
          <a:ln w="38100">
            <a:solidFill>
              <a:srgbClr val="1E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6824960" y="7223760"/>
            <a:ext cx="15361920" cy="1051560"/>
          </a:xfrm>
          <a:prstGeom prst="rect">
            <a:avLst/>
          </a:prstGeom>
          <a:solidFill>
            <a:srgbClr val="1E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824960" y="7223760"/>
            <a:ext cx="15361920" cy="1051560"/>
          </a:xfrm>
          <a:prstGeom prst="rect">
            <a:avLst/>
          </a:prstGeom>
          <a:noFill/>
        </p:spPr>
        <p:txBody>
          <a:bodyPr wrap="square" anchor="ctr" lIns="45720" rIns="45720" tIns="18288" bIns="18288">
            <a:spAutoFit/>
          </a:bodyPr>
          <a:lstStyle/>
          <a:p>
            <a:pPr algn="ctr">
              <a:lnSpc>
                <a:spcPct val="112000"/>
              </a:lnSpc>
              <a:spcAft>
                <a:spcPts val="0"/>
              </a:spcAft>
            </a:pPr>
            <a:r>
              <a:rPr sz="5000" b="1">
                <a:solidFill>
                  <a:srgbClr val="FFFFFF"/>
                </a:solidFill>
                <a:latin typeface="Arial"/>
              </a:rPr>
              <a:t>Results</a:t>
            </a:r>
          </a:p>
        </p:txBody>
      </p:sp>
      <p:sp>
        <p:nvSpPr>
          <p:cNvPr id="40" name="Rounded Rectangle 39"/>
          <p:cNvSpPr/>
          <p:nvPr/>
        </p:nvSpPr>
        <p:spPr>
          <a:xfrm>
            <a:off x="17236440" y="8595360"/>
            <a:ext cx="4632960" cy="2651760"/>
          </a:xfrm>
          <a:prstGeom prst="roundRect">
            <a:avLst>
              <a:gd name="adj" fmla="val 10000"/>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7236440" y="8686800"/>
            <a:ext cx="4632960" cy="1325880"/>
          </a:xfrm>
          <a:prstGeom prst="rect">
            <a:avLst/>
          </a:prstGeom>
          <a:noFill/>
        </p:spPr>
        <p:txBody>
          <a:bodyPr wrap="square" anchor="ctr" lIns="45720" rIns="45720" tIns="18288" bIns="18288">
            <a:spAutoFit/>
          </a:bodyPr>
          <a:lstStyle/>
          <a:p>
            <a:pPr algn="ctr">
              <a:lnSpc>
                <a:spcPct val="112000"/>
              </a:lnSpc>
              <a:spcAft>
                <a:spcPts val="1000"/>
              </a:spcAft>
            </a:pPr>
            <a:r>
              <a:rPr sz="8000" b="1">
                <a:solidFill>
                  <a:srgbClr val="1E5AA8"/>
                </a:solidFill>
                <a:latin typeface="Arial"/>
              </a:rPr>
              <a:t>0.026%</a:t>
            </a:r>
          </a:p>
        </p:txBody>
      </p:sp>
      <p:sp>
        <p:nvSpPr>
          <p:cNvPr id="42" name="TextBox 41"/>
          <p:cNvSpPr txBox="1"/>
          <p:nvPr/>
        </p:nvSpPr>
        <p:spPr>
          <a:xfrm>
            <a:off x="17236440" y="10012680"/>
            <a:ext cx="4632960" cy="1143000"/>
          </a:xfrm>
          <a:prstGeom prst="rect">
            <a:avLst/>
          </a:prstGeom>
          <a:noFill/>
        </p:spPr>
        <p:txBody>
          <a:bodyPr wrap="square" anchor="t" lIns="45720" rIns="45720" tIns="18288" bIns="18288">
            <a:spAutoFit/>
          </a:bodyPr>
          <a:lstStyle/>
          <a:p>
            <a:pPr algn="ctr">
              <a:lnSpc>
                <a:spcPct val="100000"/>
              </a:lnSpc>
              <a:spcAft>
                <a:spcPts val="0"/>
              </a:spcAft>
            </a:pPr>
            <a:r>
              <a:rPr sz="2400" b="0">
                <a:solidFill>
                  <a:srgbClr val="1B1F24"/>
                </a:solidFill>
                <a:latin typeface="Arial"/>
              </a:rPr>
              <a:t>median error on months</a:t>
            </a:r>
          </a:p>
          <a:p>
            <a:pPr algn="ctr">
              <a:lnSpc>
                <a:spcPct val="100000"/>
              </a:lnSpc>
              <a:spcAft>
                <a:spcPts val="0"/>
              </a:spcAft>
            </a:pPr>
            <a:r>
              <a:rPr sz="2400" b="0">
                <a:solidFill>
                  <a:srgbClr val="1B1F24"/>
                </a:solidFill>
                <a:latin typeface="Arial"/>
              </a:rPr>
              <a:t>withheld from training</a:t>
            </a:r>
          </a:p>
        </p:txBody>
      </p:sp>
      <p:sp>
        <p:nvSpPr>
          <p:cNvPr id="43" name="Rounded Rectangle 42"/>
          <p:cNvSpPr/>
          <p:nvPr/>
        </p:nvSpPr>
        <p:spPr>
          <a:xfrm>
            <a:off x="22189440" y="8595360"/>
            <a:ext cx="4632960" cy="2651760"/>
          </a:xfrm>
          <a:prstGeom prst="roundRect">
            <a:avLst>
              <a:gd name="adj" fmla="val 10000"/>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189440" y="8686800"/>
            <a:ext cx="4632960" cy="1325880"/>
          </a:xfrm>
          <a:prstGeom prst="rect">
            <a:avLst/>
          </a:prstGeom>
          <a:noFill/>
        </p:spPr>
        <p:txBody>
          <a:bodyPr wrap="square" anchor="ctr" lIns="45720" rIns="45720" tIns="18288" bIns="18288">
            <a:spAutoFit/>
          </a:bodyPr>
          <a:lstStyle/>
          <a:p>
            <a:pPr algn="ctr">
              <a:lnSpc>
                <a:spcPct val="112000"/>
              </a:lnSpc>
              <a:spcAft>
                <a:spcPts val="1000"/>
              </a:spcAft>
            </a:pPr>
            <a:r>
              <a:rPr sz="8000" b="1">
                <a:solidFill>
                  <a:srgbClr val="1E5AA8"/>
                </a:solidFill>
                <a:latin typeface="Arial"/>
              </a:rPr>
              <a:t>95%</a:t>
            </a:r>
          </a:p>
        </p:txBody>
      </p:sp>
      <p:sp>
        <p:nvSpPr>
          <p:cNvPr id="45" name="TextBox 44"/>
          <p:cNvSpPr txBox="1"/>
          <p:nvPr/>
        </p:nvSpPr>
        <p:spPr>
          <a:xfrm>
            <a:off x="22189440" y="10012680"/>
            <a:ext cx="4632960" cy="1143000"/>
          </a:xfrm>
          <a:prstGeom prst="rect">
            <a:avLst/>
          </a:prstGeom>
          <a:noFill/>
        </p:spPr>
        <p:txBody>
          <a:bodyPr wrap="square" anchor="t" lIns="45720" rIns="45720" tIns="18288" bIns="18288">
            <a:spAutoFit/>
          </a:bodyPr>
          <a:lstStyle/>
          <a:p>
            <a:pPr algn="ctr">
              <a:lnSpc>
                <a:spcPct val="100000"/>
              </a:lnSpc>
              <a:spcAft>
                <a:spcPts val="0"/>
              </a:spcAft>
            </a:pPr>
            <a:r>
              <a:rPr sz="2400" b="0">
                <a:solidFill>
                  <a:srgbClr val="1B1F24"/>
                </a:solidFill>
                <a:latin typeface="Arial"/>
              </a:rPr>
              <a:t>of pointings within</a:t>
            </a:r>
          </a:p>
          <a:p>
            <a:pPr algn="ctr">
              <a:lnSpc>
                <a:spcPct val="100000"/>
              </a:lnSpc>
              <a:spcAft>
                <a:spcPts val="0"/>
              </a:spcAft>
            </a:pPr>
            <a:r>
              <a:rPr sz="2400" b="0">
                <a:solidFill>
                  <a:srgbClr val="1B1F24"/>
                </a:solidFill>
                <a:latin typeface="Arial"/>
              </a:rPr>
              <a:t>0.1% of ZodiPy</a:t>
            </a:r>
          </a:p>
        </p:txBody>
      </p:sp>
      <p:sp>
        <p:nvSpPr>
          <p:cNvPr id="46" name="Rounded Rectangle 45"/>
          <p:cNvSpPr/>
          <p:nvPr/>
        </p:nvSpPr>
        <p:spPr>
          <a:xfrm>
            <a:off x="27142440" y="8595360"/>
            <a:ext cx="4632960" cy="2651760"/>
          </a:xfrm>
          <a:prstGeom prst="roundRect">
            <a:avLst>
              <a:gd name="adj" fmla="val 10000"/>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142440" y="8686800"/>
            <a:ext cx="4632960" cy="1325880"/>
          </a:xfrm>
          <a:prstGeom prst="rect">
            <a:avLst/>
          </a:prstGeom>
          <a:noFill/>
        </p:spPr>
        <p:txBody>
          <a:bodyPr wrap="square" anchor="ctr" lIns="45720" rIns="45720" tIns="18288" bIns="18288">
            <a:spAutoFit/>
          </a:bodyPr>
          <a:lstStyle/>
          <a:p>
            <a:pPr algn="ctr">
              <a:lnSpc>
                <a:spcPct val="112000"/>
              </a:lnSpc>
              <a:spcAft>
                <a:spcPts val="1000"/>
              </a:spcAft>
            </a:pPr>
            <a:r>
              <a:rPr sz="8000" b="1">
                <a:solidFill>
                  <a:srgbClr val="1E5AA8"/>
                </a:solidFill>
                <a:latin typeface="Arial"/>
              </a:rPr>
              <a:t>64</a:t>
            </a:r>
          </a:p>
        </p:txBody>
      </p:sp>
      <p:sp>
        <p:nvSpPr>
          <p:cNvPr id="48" name="TextBox 47"/>
          <p:cNvSpPr txBox="1"/>
          <p:nvPr/>
        </p:nvSpPr>
        <p:spPr>
          <a:xfrm>
            <a:off x="27142440" y="10012680"/>
            <a:ext cx="4632960" cy="1143000"/>
          </a:xfrm>
          <a:prstGeom prst="rect">
            <a:avLst/>
          </a:prstGeom>
          <a:noFill/>
        </p:spPr>
        <p:txBody>
          <a:bodyPr wrap="square" anchor="t" lIns="45720" rIns="45720" tIns="18288" bIns="18288">
            <a:spAutoFit/>
          </a:bodyPr>
          <a:lstStyle/>
          <a:p>
            <a:pPr algn="ctr">
              <a:lnSpc>
                <a:spcPct val="100000"/>
              </a:lnSpc>
              <a:spcAft>
                <a:spcPts val="0"/>
              </a:spcAft>
            </a:pPr>
            <a:r>
              <a:rPr sz="2400" b="0">
                <a:solidFill>
                  <a:srgbClr val="1B1F24"/>
                </a:solidFill>
                <a:latin typeface="Arial"/>
              </a:rPr>
              <a:t>wavelengths in</a:t>
            </a:r>
          </a:p>
          <a:p>
            <a:pPr algn="ctr">
              <a:lnSpc>
                <a:spcPct val="100000"/>
              </a:lnSpc>
              <a:spcAft>
                <a:spcPts val="0"/>
              </a:spcAft>
            </a:pPr>
            <a:r>
              <a:rPr sz="2400" b="0">
                <a:solidFill>
                  <a:srgbClr val="1B1F24"/>
                </a:solidFill>
                <a:latin typeface="Arial"/>
              </a:rPr>
              <a:t>one network</a:t>
            </a:r>
          </a:p>
        </p:txBody>
      </p:sp>
      <p:pic>
        <p:nvPicPr>
          <p:cNvPr id="49" name="Picture 48" descr="accuracy_light.png"/>
          <p:cNvPicPr>
            <a:picLocks noChangeAspect="1"/>
          </p:cNvPicPr>
          <p:nvPr/>
        </p:nvPicPr>
        <p:blipFill>
          <a:blip r:embed="rId6"/>
          <a:stretch>
            <a:fillRect/>
          </a:stretch>
        </p:blipFill>
        <p:spPr>
          <a:xfrm>
            <a:off x="17236440" y="11567160"/>
            <a:ext cx="14538960" cy="7269480"/>
          </a:xfrm>
          <a:prstGeom prst="rect">
            <a:avLst/>
          </a:prstGeom>
        </p:spPr>
      </p:pic>
      <p:sp>
        <p:nvSpPr>
          <p:cNvPr id="50" name="TextBox 49"/>
          <p:cNvSpPr txBox="1"/>
          <p:nvPr/>
        </p:nvSpPr>
        <p:spPr>
          <a:xfrm>
            <a:off x="17236440" y="18836640"/>
            <a:ext cx="14538960" cy="1371600"/>
          </a:xfrm>
          <a:prstGeom prst="rect">
            <a:avLst/>
          </a:prstGeom>
          <a:noFill/>
        </p:spPr>
        <p:txBody>
          <a:bodyPr wrap="square" anchor="t" lIns="45720" rIns="45720" tIns="18288" bIns="18288">
            <a:spAutoFit/>
          </a:bodyPr>
          <a:lstStyle/>
          <a:p>
            <a:pPr algn="l">
              <a:lnSpc>
                <a:spcPct val="105000"/>
              </a:lnSpc>
              <a:spcAft>
                <a:spcPts val="1000"/>
              </a:spcAft>
            </a:pPr>
            <a:r>
              <a:rPr sz="2200" b="1">
                <a:solidFill>
                  <a:srgbClr val="4A5563"/>
                </a:solidFill>
                <a:latin typeface="Arial"/>
              </a:rPr>
              <a:t>Figure 3. </a:t>
            </a:r>
            <a:r>
              <a:rPr sz="2200" b="0">
                <a:solidFill>
                  <a:srgbClr val="4A5563"/>
                </a:solidFill>
                <a:latin typeface="Arial"/>
              </a:rPr>
              <a:t>Neural network vs. ZodiPy. The network was trained on mission days 0–30, 60–90 and 120–140, then tested on the two 30-day blocks it never saw (days 30–60 and 90–120; 180,166 pointings). Half of the errors are below 0.026% and 95% are below 0.1%. (With a random 10% of pointings withheld instead, the median is 0.015%.)</a:t>
            </a:r>
          </a:p>
        </p:txBody>
      </p:sp>
      <p:sp>
        <p:nvSpPr>
          <p:cNvPr id="51" name="Rectangle 50"/>
          <p:cNvSpPr/>
          <p:nvPr/>
        </p:nvSpPr>
        <p:spPr>
          <a:xfrm>
            <a:off x="17236440" y="20253960"/>
            <a:ext cx="14538960" cy="54864"/>
          </a:xfrm>
          <a:prstGeom prst="rect">
            <a:avLst/>
          </a:prstGeom>
          <a:solidFill>
            <a:srgbClr val="1E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7236440" y="20482560"/>
            <a:ext cx="14538960" cy="1645920"/>
          </a:xfrm>
          <a:prstGeom prst="rect">
            <a:avLst/>
          </a:prstGeom>
          <a:noFill/>
        </p:spPr>
        <p:txBody>
          <a:bodyPr wrap="square" anchor="t" lIns="45720" rIns="45720" tIns="18288" bIns="18288">
            <a:spAutoFit/>
          </a:bodyPr>
          <a:lstStyle/>
          <a:p>
            <a:pPr algn="l">
              <a:lnSpc>
                <a:spcPct val="112000"/>
              </a:lnSpc>
              <a:spcAft>
                <a:spcPts val="1000"/>
              </a:spcAft>
            </a:pPr>
            <a:r>
              <a:rPr sz="2800" b="1">
                <a:solidFill>
                  <a:srgbClr val="1B1F24"/>
                </a:solidFill>
                <a:latin typeface="Arial"/>
              </a:rPr>
              <a:t>Looking forward: every SPHEREx wavelength. </a:t>
            </a:r>
            <a:r>
              <a:rPr sz="2800" b="0">
                <a:solidFill>
                  <a:srgbClr val="1B1F24"/>
                </a:solidFill>
                <a:latin typeface="Arial"/>
              </a:rPr>
              <a:t>Real SPHEREx images cover many wavelengths, so wavelength becomes one more input. A first version covering 1.25–5 μm already reaches ~0.1% median error on the same withheld months.</a:t>
            </a:r>
          </a:p>
        </p:txBody>
      </p:sp>
      <p:pic>
        <p:nvPicPr>
          <p:cNvPr id="53" name="Picture 52" descr="spectra_light.png"/>
          <p:cNvPicPr>
            <a:picLocks noChangeAspect="1"/>
          </p:cNvPicPr>
          <p:nvPr/>
        </p:nvPicPr>
        <p:blipFill>
          <a:blip r:embed="rId7"/>
          <a:stretch>
            <a:fillRect/>
          </a:stretch>
        </p:blipFill>
        <p:spPr>
          <a:xfrm>
            <a:off x="18093690" y="22037040"/>
            <a:ext cx="12824460" cy="8549640"/>
          </a:xfrm>
          <a:prstGeom prst="rect">
            <a:avLst/>
          </a:prstGeom>
        </p:spPr>
      </p:pic>
      <p:sp>
        <p:nvSpPr>
          <p:cNvPr id="54" name="TextBox 53"/>
          <p:cNvSpPr txBox="1"/>
          <p:nvPr/>
        </p:nvSpPr>
        <p:spPr>
          <a:xfrm>
            <a:off x="17236440" y="30586680"/>
            <a:ext cx="14538960" cy="914400"/>
          </a:xfrm>
          <a:prstGeom prst="rect">
            <a:avLst/>
          </a:prstGeom>
          <a:noFill/>
        </p:spPr>
        <p:txBody>
          <a:bodyPr wrap="square" anchor="t" lIns="45720" rIns="45720" tIns="18288" bIns="18288">
            <a:spAutoFit/>
          </a:bodyPr>
          <a:lstStyle/>
          <a:p>
            <a:pPr algn="l">
              <a:lnSpc>
                <a:spcPct val="105000"/>
              </a:lnSpc>
              <a:spcAft>
                <a:spcPts val="1000"/>
              </a:spcAft>
            </a:pPr>
            <a:r>
              <a:rPr sz="2200" b="1">
                <a:solidFill>
                  <a:srgbClr val="4A5563"/>
                </a:solidFill>
                <a:latin typeface="Arial"/>
              </a:rPr>
              <a:t>Figure 4. </a:t>
            </a:r>
            <a:r>
              <a:rPr sz="2200" b="0">
                <a:solidFill>
                  <a:srgbClr val="4A5563"/>
                </a:solidFill>
                <a:latin typeface="Arial"/>
              </a:rPr>
              <a:t>Brightness vs. wavelength for three pointings: ZodiPy (solid) and the network (dashed). Below 3 μm we see scattered sunlight; above, the dust's heat. Bottom: the differences stay under 1%.</a:t>
            </a:r>
          </a:p>
        </p:txBody>
      </p:sp>
      <p:sp>
        <p:nvSpPr>
          <p:cNvPr id="55" name="Rectangle 54"/>
          <p:cNvSpPr/>
          <p:nvPr/>
        </p:nvSpPr>
        <p:spPr>
          <a:xfrm>
            <a:off x="16824960" y="32141160"/>
            <a:ext cx="15361920" cy="8092439"/>
          </a:xfrm>
          <a:prstGeom prst="rect">
            <a:avLst/>
          </a:prstGeom>
          <a:solidFill>
            <a:srgbClr val="FFFFFF"/>
          </a:solidFill>
          <a:ln w="38100">
            <a:solidFill>
              <a:srgbClr val="1E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6824960" y="32141160"/>
            <a:ext cx="15361920" cy="1051560"/>
          </a:xfrm>
          <a:prstGeom prst="rect">
            <a:avLst/>
          </a:prstGeom>
          <a:solidFill>
            <a:srgbClr val="1E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824960" y="32141160"/>
            <a:ext cx="15361920" cy="1051560"/>
          </a:xfrm>
          <a:prstGeom prst="rect">
            <a:avLst/>
          </a:prstGeom>
          <a:noFill/>
        </p:spPr>
        <p:txBody>
          <a:bodyPr wrap="square" anchor="ctr" lIns="45720" rIns="45720" tIns="18288" bIns="18288">
            <a:spAutoFit/>
          </a:bodyPr>
          <a:lstStyle/>
          <a:p>
            <a:pPr algn="ctr">
              <a:lnSpc>
                <a:spcPct val="112000"/>
              </a:lnSpc>
              <a:spcAft>
                <a:spcPts val="0"/>
              </a:spcAft>
            </a:pPr>
            <a:r>
              <a:rPr sz="5000" b="1">
                <a:solidFill>
                  <a:srgbClr val="FFFFFF"/>
                </a:solidFill>
                <a:latin typeface="Arial"/>
              </a:rPr>
              <a:t>Next Steps</a:t>
            </a:r>
          </a:p>
        </p:txBody>
      </p:sp>
      <p:sp>
        <p:nvSpPr>
          <p:cNvPr id="58" name="Rounded Rectangle 57"/>
          <p:cNvSpPr/>
          <p:nvPr/>
        </p:nvSpPr>
        <p:spPr>
          <a:xfrm>
            <a:off x="17236440" y="33512760"/>
            <a:ext cx="14538960" cy="1234440"/>
          </a:xfrm>
          <a:prstGeom prst="roundRect">
            <a:avLst>
              <a:gd name="adj" fmla="val 15000"/>
            </a:avLst>
          </a:prstGeom>
          <a:solidFill>
            <a:srgbClr val="EAF1FA"/>
          </a:solidFill>
          <a:ln w="635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465040" y="33512760"/>
            <a:ext cx="3931920" cy="1234440"/>
          </a:xfrm>
          <a:prstGeom prst="rect">
            <a:avLst/>
          </a:prstGeom>
          <a:noFill/>
        </p:spPr>
        <p:txBody>
          <a:bodyPr wrap="square" anchor="ctr" lIns="45720" rIns="45720" tIns="18288" bIns="18288">
            <a:spAutoFit/>
          </a:bodyPr>
          <a:lstStyle/>
          <a:p>
            <a:pPr algn="l">
              <a:lnSpc>
                <a:spcPct val="100000"/>
              </a:lnSpc>
              <a:spcAft>
                <a:spcPts val="0"/>
              </a:spcAft>
            </a:pPr>
            <a:r>
              <a:rPr sz="2400" b="1">
                <a:solidFill>
                  <a:srgbClr val="2E7D32"/>
                </a:solidFill>
                <a:latin typeface="Arial"/>
              </a:rPr>
              <a:t>✓ DONE</a:t>
            </a:r>
          </a:p>
          <a:p>
            <a:pPr algn="l">
              <a:lnSpc>
                <a:spcPct val="100000"/>
              </a:lnSpc>
              <a:spcAft>
                <a:spcPts val="0"/>
              </a:spcAft>
            </a:pPr>
            <a:r>
              <a:rPr sz="2400" b="1">
                <a:solidFill>
                  <a:srgbClr val="2E7D32"/>
                </a:solidFill>
                <a:latin typeface="Arial"/>
              </a:rPr>
              <a:t>Validate</a:t>
            </a:r>
          </a:p>
        </p:txBody>
      </p:sp>
      <p:sp>
        <p:nvSpPr>
          <p:cNvPr id="60" name="TextBox 59"/>
          <p:cNvSpPr txBox="1"/>
          <p:nvPr/>
        </p:nvSpPr>
        <p:spPr>
          <a:xfrm>
            <a:off x="21442680" y="33512760"/>
            <a:ext cx="10104120" cy="1234440"/>
          </a:xfrm>
          <a:prstGeom prst="rect">
            <a:avLst/>
          </a:prstGeom>
          <a:noFill/>
        </p:spPr>
        <p:txBody>
          <a:bodyPr wrap="square" anchor="ctr" lIns="45720" rIns="45720" tIns="18288" bIns="18288">
            <a:spAutoFit/>
          </a:bodyPr>
          <a:lstStyle/>
          <a:p>
            <a:pPr algn="l">
              <a:lnSpc>
                <a:spcPct val="102000"/>
              </a:lnSpc>
              <a:spcAft>
                <a:spcPts val="0"/>
              </a:spcAft>
            </a:pPr>
            <a:r>
              <a:rPr sz="2500" b="0">
                <a:solidFill>
                  <a:srgbClr val="1B1F24"/>
                </a:solidFill>
                <a:latin typeface="Arial"/>
              </a:rPr>
              <a:t>Learn ZodiPy's simulated sky from geometry alone; test on unseen months and sky regions</a:t>
            </a:r>
          </a:p>
        </p:txBody>
      </p:sp>
      <p:sp>
        <p:nvSpPr>
          <p:cNvPr id="61" name="Down Arrow 60"/>
          <p:cNvSpPr/>
          <p:nvPr/>
        </p:nvSpPr>
        <p:spPr>
          <a:xfrm>
            <a:off x="24231600" y="34774632"/>
            <a:ext cx="548640" cy="237744"/>
          </a:xfrm>
          <a:prstGeom prst="downArrow">
            <a:avLst/>
          </a:prstGeom>
          <a:solidFill>
            <a:srgbClr val="8C0B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17236440" y="35039808"/>
            <a:ext cx="14538960" cy="1234440"/>
          </a:xfrm>
          <a:prstGeom prst="roundRect">
            <a:avLst>
              <a:gd name="adj" fmla="val 15000"/>
            </a:avLst>
          </a:prstGeom>
          <a:solidFill>
            <a:srgbClr val="EAF1FA"/>
          </a:solidFill>
          <a:ln w="63500">
            <a:solidFill>
              <a:srgbClr val="E0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7465040" y="35039808"/>
            <a:ext cx="3931920" cy="1234440"/>
          </a:xfrm>
          <a:prstGeom prst="rect">
            <a:avLst/>
          </a:prstGeom>
          <a:noFill/>
        </p:spPr>
        <p:txBody>
          <a:bodyPr wrap="square" anchor="ctr" lIns="45720" rIns="45720" tIns="18288" bIns="18288">
            <a:spAutoFit/>
          </a:bodyPr>
          <a:lstStyle/>
          <a:p>
            <a:pPr algn="l">
              <a:lnSpc>
                <a:spcPct val="100000"/>
              </a:lnSpc>
              <a:spcAft>
                <a:spcPts val="0"/>
              </a:spcAft>
            </a:pPr>
            <a:r>
              <a:rPr sz="2400" b="1">
                <a:solidFill>
                  <a:srgbClr val="E08A00"/>
                </a:solidFill>
                <a:latin typeface="Arial"/>
              </a:rPr>
              <a:t>IN PROGRESS</a:t>
            </a:r>
          </a:p>
          <a:p>
            <a:pPr algn="l">
              <a:lnSpc>
                <a:spcPct val="100000"/>
              </a:lnSpc>
              <a:spcAft>
                <a:spcPts val="0"/>
              </a:spcAft>
            </a:pPr>
            <a:r>
              <a:rPr sz="2400" b="1">
                <a:solidFill>
                  <a:srgbClr val="E08A00"/>
                </a:solidFill>
                <a:latin typeface="Arial"/>
              </a:rPr>
              <a:t>Refine</a:t>
            </a:r>
          </a:p>
        </p:txBody>
      </p:sp>
      <p:sp>
        <p:nvSpPr>
          <p:cNvPr id="64" name="TextBox 63"/>
          <p:cNvSpPr txBox="1"/>
          <p:nvPr/>
        </p:nvSpPr>
        <p:spPr>
          <a:xfrm>
            <a:off x="21442680" y="35039808"/>
            <a:ext cx="10104120" cy="1234440"/>
          </a:xfrm>
          <a:prstGeom prst="rect">
            <a:avLst/>
          </a:prstGeom>
          <a:noFill/>
        </p:spPr>
        <p:txBody>
          <a:bodyPr wrap="square" anchor="ctr" lIns="45720" rIns="45720" tIns="18288" bIns="18288">
            <a:spAutoFit/>
          </a:bodyPr>
          <a:lstStyle/>
          <a:p>
            <a:pPr algn="l">
              <a:lnSpc>
                <a:spcPct val="102000"/>
              </a:lnSpc>
              <a:spcAft>
                <a:spcPts val="0"/>
              </a:spcAft>
            </a:pPr>
            <a:r>
              <a:rPr sz="2500" b="0">
                <a:solidFill>
                  <a:srgbClr val="1B1F24"/>
                </a:solidFill>
                <a:latin typeface="Arial"/>
              </a:rPr>
              <a:t>Longer training; all SPHEREx wavelengths (0.75–5 μm)</a:t>
            </a:r>
          </a:p>
        </p:txBody>
      </p:sp>
      <p:sp>
        <p:nvSpPr>
          <p:cNvPr id="65" name="Down Arrow 64"/>
          <p:cNvSpPr/>
          <p:nvPr/>
        </p:nvSpPr>
        <p:spPr>
          <a:xfrm>
            <a:off x="24231600" y="36301680"/>
            <a:ext cx="548640" cy="237744"/>
          </a:xfrm>
          <a:prstGeom prst="downArrow">
            <a:avLst/>
          </a:prstGeom>
          <a:solidFill>
            <a:srgbClr val="8C0B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17236440" y="36566856"/>
            <a:ext cx="14538960" cy="1234440"/>
          </a:xfrm>
          <a:prstGeom prst="roundRect">
            <a:avLst>
              <a:gd name="adj" fmla="val 15000"/>
            </a:avLst>
          </a:prstGeom>
          <a:solidFill>
            <a:srgbClr val="EAF1FA"/>
          </a:solidFill>
          <a:ln w="63500">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465040" y="36566856"/>
            <a:ext cx="3931920" cy="1234440"/>
          </a:xfrm>
          <a:prstGeom prst="rect">
            <a:avLst/>
          </a:prstGeom>
          <a:noFill/>
        </p:spPr>
        <p:txBody>
          <a:bodyPr wrap="square" anchor="ctr" lIns="45720" rIns="45720" tIns="18288" bIns="18288">
            <a:spAutoFit/>
          </a:bodyPr>
          <a:lstStyle/>
          <a:p>
            <a:pPr algn="l">
              <a:lnSpc>
                <a:spcPct val="100000"/>
              </a:lnSpc>
              <a:spcAft>
                <a:spcPts val="0"/>
              </a:spcAft>
            </a:pPr>
            <a:r>
              <a:rPr sz="2400" b="1">
                <a:solidFill>
                  <a:srgbClr val="5A6472"/>
                </a:solidFill>
                <a:latin typeface="Arial"/>
              </a:rPr>
              <a:t>NEXT</a:t>
            </a:r>
          </a:p>
          <a:p>
            <a:pPr algn="l">
              <a:lnSpc>
                <a:spcPct val="100000"/>
              </a:lnSpc>
              <a:spcAft>
                <a:spcPts val="0"/>
              </a:spcAft>
            </a:pPr>
            <a:r>
              <a:rPr sz="2400" b="1">
                <a:solidFill>
                  <a:srgbClr val="5A6472"/>
                </a:solidFill>
                <a:latin typeface="Arial"/>
              </a:rPr>
              <a:t>Scale up</a:t>
            </a:r>
          </a:p>
        </p:txBody>
      </p:sp>
      <p:sp>
        <p:nvSpPr>
          <p:cNvPr id="68" name="TextBox 67"/>
          <p:cNvSpPr txBox="1"/>
          <p:nvPr/>
        </p:nvSpPr>
        <p:spPr>
          <a:xfrm>
            <a:off x="21442680" y="36566856"/>
            <a:ext cx="10104120" cy="1234440"/>
          </a:xfrm>
          <a:prstGeom prst="rect">
            <a:avLst/>
          </a:prstGeom>
          <a:noFill/>
        </p:spPr>
        <p:txBody>
          <a:bodyPr wrap="square" anchor="ctr" lIns="45720" rIns="45720" tIns="18288" bIns="18288">
            <a:spAutoFit/>
          </a:bodyPr>
          <a:lstStyle/>
          <a:p>
            <a:pPr algn="l">
              <a:lnSpc>
                <a:spcPct val="102000"/>
              </a:lnSpc>
              <a:spcAft>
                <a:spcPts val="0"/>
              </a:spcAft>
            </a:pPr>
            <a:r>
              <a:rPr sz="2500" b="0">
                <a:solidFill>
                  <a:srgbClr val="1B1F24"/>
                </a:solidFill>
                <a:latin typeface="Arial"/>
              </a:rPr>
              <a:t>Move training to a computing cluster</a:t>
            </a:r>
          </a:p>
        </p:txBody>
      </p:sp>
      <p:sp>
        <p:nvSpPr>
          <p:cNvPr id="69" name="Down Arrow 68"/>
          <p:cNvSpPr/>
          <p:nvPr/>
        </p:nvSpPr>
        <p:spPr>
          <a:xfrm>
            <a:off x="24231600" y="37828728"/>
            <a:ext cx="548640" cy="237744"/>
          </a:xfrm>
          <a:prstGeom prst="downArrow">
            <a:avLst/>
          </a:prstGeom>
          <a:solidFill>
            <a:srgbClr val="8C0B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7236440" y="38093904"/>
            <a:ext cx="14538960" cy="1234440"/>
          </a:xfrm>
          <a:prstGeom prst="roundRect">
            <a:avLst>
              <a:gd name="adj" fmla="val 15000"/>
            </a:avLst>
          </a:prstGeom>
          <a:solidFill>
            <a:srgbClr val="EAF1FA"/>
          </a:solidFill>
          <a:ln w="63500">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7465040" y="38093904"/>
            <a:ext cx="3931920" cy="1234440"/>
          </a:xfrm>
          <a:prstGeom prst="rect">
            <a:avLst/>
          </a:prstGeom>
          <a:noFill/>
        </p:spPr>
        <p:txBody>
          <a:bodyPr wrap="square" anchor="ctr" lIns="45720" rIns="45720" tIns="18288" bIns="18288">
            <a:spAutoFit/>
          </a:bodyPr>
          <a:lstStyle/>
          <a:p>
            <a:pPr algn="l">
              <a:lnSpc>
                <a:spcPct val="100000"/>
              </a:lnSpc>
              <a:spcAft>
                <a:spcPts val="0"/>
              </a:spcAft>
            </a:pPr>
            <a:r>
              <a:rPr sz="2400" b="1">
                <a:solidFill>
                  <a:srgbClr val="5A6472"/>
                </a:solidFill>
                <a:latin typeface="Arial"/>
              </a:rPr>
              <a:t>NEXT</a:t>
            </a:r>
          </a:p>
          <a:p>
            <a:pPr algn="l">
              <a:lnSpc>
                <a:spcPct val="100000"/>
              </a:lnSpc>
              <a:spcAft>
                <a:spcPts val="0"/>
              </a:spcAft>
            </a:pPr>
            <a:r>
              <a:rPr sz="2400" b="1">
                <a:solidFill>
                  <a:srgbClr val="5A6472"/>
                </a:solidFill>
                <a:latin typeface="Arial"/>
              </a:rPr>
              <a:t>Real data</a:t>
            </a:r>
          </a:p>
        </p:txBody>
      </p:sp>
      <p:sp>
        <p:nvSpPr>
          <p:cNvPr id="72" name="TextBox 71"/>
          <p:cNvSpPr txBox="1"/>
          <p:nvPr/>
        </p:nvSpPr>
        <p:spPr>
          <a:xfrm>
            <a:off x="21442680" y="38093904"/>
            <a:ext cx="10104120" cy="1234440"/>
          </a:xfrm>
          <a:prstGeom prst="rect">
            <a:avLst/>
          </a:prstGeom>
          <a:noFill/>
        </p:spPr>
        <p:txBody>
          <a:bodyPr wrap="square" anchor="ctr" lIns="45720" rIns="45720" tIns="18288" bIns="18288">
            <a:spAutoFit/>
          </a:bodyPr>
          <a:lstStyle/>
          <a:p>
            <a:pPr algn="l">
              <a:lnSpc>
                <a:spcPct val="102000"/>
              </a:lnSpc>
              <a:spcAft>
                <a:spcPts val="0"/>
              </a:spcAft>
            </a:pPr>
            <a:r>
              <a:rPr sz="2500" b="0">
                <a:solidFill>
                  <a:srgbClr val="1B1F24"/>
                </a:solidFill>
                <a:latin typeface="Arial"/>
              </a:rPr>
              <a:t>Train on real SPHEREx images and compare with the Kelsall model</a:t>
            </a:r>
          </a:p>
        </p:txBody>
      </p:sp>
      <p:sp>
        <p:nvSpPr>
          <p:cNvPr id="73" name="TextBox 72"/>
          <p:cNvSpPr txBox="1"/>
          <p:nvPr/>
        </p:nvSpPr>
        <p:spPr>
          <a:xfrm>
            <a:off x="17236440" y="39465504"/>
            <a:ext cx="14538960" cy="548640"/>
          </a:xfrm>
          <a:prstGeom prst="rect">
            <a:avLst/>
          </a:prstGeom>
          <a:noFill/>
        </p:spPr>
        <p:txBody>
          <a:bodyPr wrap="square" anchor="t" lIns="45720" rIns="45720" tIns="18288" bIns="18288">
            <a:spAutoFit/>
          </a:bodyPr>
          <a:lstStyle/>
          <a:p>
            <a:pPr algn="ctr">
              <a:lnSpc>
                <a:spcPct val="112000"/>
              </a:lnSpc>
              <a:spcAft>
                <a:spcPts val="1000"/>
              </a:spcAft>
            </a:pPr>
            <a:r>
              <a:rPr sz="2300" b="0">
                <a:solidFill>
                  <a:srgbClr val="4A5563"/>
                </a:solidFill>
                <a:latin typeface="Arial"/>
              </a:rPr>
              <a:t>All results so far are preliminary and use simulated data.</a:t>
            </a:r>
          </a:p>
        </p:txBody>
      </p:sp>
      <p:sp>
        <p:nvSpPr>
          <p:cNvPr id="74" name="Rectangle 73"/>
          <p:cNvSpPr/>
          <p:nvPr/>
        </p:nvSpPr>
        <p:spPr>
          <a:xfrm>
            <a:off x="731520" y="40599360"/>
            <a:ext cx="15361920" cy="2834640"/>
          </a:xfrm>
          <a:prstGeom prst="rect">
            <a:avLst/>
          </a:prstGeom>
          <a:solidFill>
            <a:srgbClr val="FFFFFF"/>
          </a:solidFill>
          <a:ln w="38100">
            <a:solidFill>
              <a:srgbClr val="1E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31520" y="40599360"/>
            <a:ext cx="15361920" cy="777240"/>
          </a:xfrm>
          <a:prstGeom prst="rect">
            <a:avLst/>
          </a:prstGeom>
          <a:solidFill>
            <a:srgbClr val="1E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31520" y="40599360"/>
            <a:ext cx="15361920" cy="777240"/>
          </a:xfrm>
          <a:prstGeom prst="rect">
            <a:avLst/>
          </a:prstGeom>
          <a:noFill/>
        </p:spPr>
        <p:txBody>
          <a:bodyPr wrap="square" anchor="ctr" lIns="45720" rIns="45720" tIns="18288" bIns="18288">
            <a:spAutoFit/>
          </a:bodyPr>
          <a:lstStyle/>
          <a:p>
            <a:pPr algn="ctr">
              <a:lnSpc>
                <a:spcPct val="112000"/>
              </a:lnSpc>
              <a:spcAft>
                <a:spcPts val="0"/>
              </a:spcAft>
            </a:pPr>
            <a:r>
              <a:rPr sz="4000" b="1">
                <a:solidFill>
                  <a:srgbClr val="FFFFFF"/>
                </a:solidFill>
                <a:latin typeface="Arial"/>
              </a:rPr>
              <a:t>Acknowledgements</a:t>
            </a:r>
          </a:p>
        </p:txBody>
      </p:sp>
      <p:pic>
        <p:nvPicPr>
          <p:cNvPr id="77" name="Picture 76" descr="logo_nsf.png"/>
          <p:cNvPicPr>
            <a:picLocks noChangeAspect="1"/>
          </p:cNvPicPr>
          <p:nvPr/>
        </p:nvPicPr>
        <p:blipFill>
          <a:blip r:embed="rId8"/>
          <a:stretch>
            <a:fillRect/>
          </a:stretch>
        </p:blipFill>
        <p:spPr>
          <a:xfrm>
            <a:off x="14036040" y="41559480"/>
            <a:ext cx="1640792" cy="1645919"/>
          </a:xfrm>
          <a:prstGeom prst="rect">
            <a:avLst/>
          </a:prstGeom>
        </p:spPr>
      </p:pic>
      <p:sp>
        <p:nvSpPr>
          <p:cNvPr id="78" name="TextBox 77"/>
          <p:cNvSpPr txBox="1"/>
          <p:nvPr/>
        </p:nvSpPr>
        <p:spPr>
          <a:xfrm>
            <a:off x="1143000" y="41513760"/>
            <a:ext cx="12618720" cy="1828799"/>
          </a:xfrm>
          <a:prstGeom prst="rect">
            <a:avLst/>
          </a:prstGeom>
          <a:noFill/>
        </p:spPr>
        <p:txBody>
          <a:bodyPr wrap="square" anchor="t" lIns="45720" rIns="45720" tIns="18288" bIns="18288">
            <a:spAutoFit/>
          </a:bodyPr>
          <a:lstStyle/>
          <a:p>
            <a:pPr algn="l">
              <a:lnSpc>
                <a:spcPct val="105000"/>
              </a:lnSpc>
              <a:spcAft>
                <a:spcPts val="1000"/>
              </a:spcAft>
            </a:pPr>
            <a:r>
              <a:rPr sz="2200" b="0">
                <a:solidFill>
                  <a:srgbClr val="1B1F24"/>
                </a:solidFill>
                <a:latin typeface="Arial"/>
              </a:rPr>
              <a:t>This research is supported by a URS grant at New Mexico State University, funded by the National Science Foundation (NSF). Thank you to Dr. Andrew Saydjari for mentorship, and to the developers of ZodiPy and Flux.jl.</a:t>
            </a:r>
          </a:p>
        </p:txBody>
      </p:sp>
      <p:sp>
        <p:nvSpPr>
          <p:cNvPr id="79" name="Rectangle 78"/>
          <p:cNvSpPr/>
          <p:nvPr/>
        </p:nvSpPr>
        <p:spPr>
          <a:xfrm>
            <a:off x="16824960" y="40599360"/>
            <a:ext cx="15361920" cy="2834640"/>
          </a:xfrm>
          <a:prstGeom prst="rect">
            <a:avLst/>
          </a:prstGeom>
          <a:solidFill>
            <a:srgbClr val="FFFFFF"/>
          </a:solidFill>
          <a:ln w="38100">
            <a:solidFill>
              <a:srgbClr val="1E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6824960" y="40599360"/>
            <a:ext cx="15361920" cy="777240"/>
          </a:xfrm>
          <a:prstGeom prst="rect">
            <a:avLst/>
          </a:prstGeom>
          <a:solidFill>
            <a:srgbClr val="1E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6824960" y="40599360"/>
            <a:ext cx="15361920" cy="777240"/>
          </a:xfrm>
          <a:prstGeom prst="rect">
            <a:avLst/>
          </a:prstGeom>
          <a:noFill/>
        </p:spPr>
        <p:txBody>
          <a:bodyPr wrap="square" anchor="ctr" lIns="45720" rIns="45720" tIns="18288" bIns="18288">
            <a:spAutoFit/>
          </a:bodyPr>
          <a:lstStyle/>
          <a:p>
            <a:pPr algn="ctr">
              <a:lnSpc>
                <a:spcPct val="112000"/>
              </a:lnSpc>
              <a:spcAft>
                <a:spcPts val="0"/>
              </a:spcAft>
            </a:pPr>
            <a:r>
              <a:rPr sz="4000" b="1">
                <a:solidFill>
                  <a:srgbClr val="FFFFFF"/>
                </a:solidFill>
                <a:latin typeface="Arial"/>
              </a:rPr>
              <a:t>References</a:t>
            </a:r>
          </a:p>
        </p:txBody>
      </p:sp>
      <p:sp>
        <p:nvSpPr>
          <p:cNvPr id="82" name="TextBox 81"/>
          <p:cNvSpPr txBox="1"/>
          <p:nvPr/>
        </p:nvSpPr>
        <p:spPr>
          <a:xfrm>
            <a:off x="17236440" y="41513760"/>
            <a:ext cx="7086600" cy="1737359"/>
          </a:xfrm>
          <a:prstGeom prst="rect">
            <a:avLst/>
          </a:prstGeom>
          <a:noFill/>
        </p:spPr>
        <p:txBody>
          <a:bodyPr wrap="square" anchor="t" lIns="45720" rIns="45720" tIns="18288" bIns="18288">
            <a:spAutoFit/>
          </a:bodyPr>
          <a:lstStyle/>
          <a:p>
            <a:pPr algn="l">
              <a:lnSpc>
                <a:spcPct val="100000"/>
              </a:lnSpc>
              <a:spcAft>
                <a:spcPts val="600"/>
              </a:spcAft>
            </a:pPr>
            <a:r>
              <a:rPr sz="2100" b="0">
                <a:solidFill>
                  <a:srgbClr val="1B1F24"/>
                </a:solidFill>
                <a:latin typeface="Arial"/>
              </a:rPr>
              <a:t>Kelsall, T., et al. 1998, ApJ, 508, 44 (COBE/DIRBE zodiacal-light model)</a:t>
            </a:r>
          </a:p>
          <a:p>
            <a:pPr algn="l">
              <a:lnSpc>
                <a:spcPct val="100000"/>
              </a:lnSpc>
              <a:spcAft>
                <a:spcPts val="600"/>
              </a:spcAft>
            </a:pPr>
            <a:r>
              <a:rPr sz="2100" b="0">
                <a:solidFill>
                  <a:srgbClr val="1B1F24"/>
                </a:solidFill>
                <a:latin typeface="Arial"/>
              </a:rPr>
              <a:t>San, M., et al. 2022, JOSS, 7, 4602 (ZodiPy)</a:t>
            </a:r>
          </a:p>
        </p:txBody>
      </p:sp>
      <p:sp>
        <p:nvSpPr>
          <p:cNvPr id="83" name="TextBox 82"/>
          <p:cNvSpPr txBox="1"/>
          <p:nvPr/>
        </p:nvSpPr>
        <p:spPr>
          <a:xfrm>
            <a:off x="24688800" y="41513760"/>
            <a:ext cx="7086600" cy="1737359"/>
          </a:xfrm>
          <a:prstGeom prst="rect">
            <a:avLst/>
          </a:prstGeom>
          <a:noFill/>
        </p:spPr>
        <p:txBody>
          <a:bodyPr wrap="square" anchor="t" lIns="45720" rIns="45720" tIns="18288" bIns="18288">
            <a:spAutoFit/>
          </a:bodyPr>
          <a:lstStyle/>
          <a:p>
            <a:pPr algn="l">
              <a:lnSpc>
                <a:spcPct val="100000"/>
              </a:lnSpc>
              <a:spcAft>
                <a:spcPts val="600"/>
              </a:spcAft>
            </a:pPr>
            <a:r>
              <a:rPr sz="2100" b="0">
                <a:solidFill>
                  <a:srgbClr val="1B1F24"/>
                </a:solidFill>
                <a:latin typeface="Arial"/>
              </a:rPr>
              <a:t>Doré, O., et al. 2014, arXiv:1412.4872 (SPHEREx)</a:t>
            </a:r>
          </a:p>
          <a:p>
            <a:pPr algn="l">
              <a:lnSpc>
                <a:spcPct val="100000"/>
              </a:lnSpc>
              <a:spcAft>
                <a:spcPts val="600"/>
              </a:spcAft>
            </a:pPr>
            <a:r>
              <a:rPr sz="2100" b="0">
                <a:solidFill>
                  <a:srgbClr val="1B1F24"/>
                </a:solidFill>
                <a:latin typeface="Arial"/>
              </a:rPr>
              <a:t>Innes, M. 2018, JOSS, 3, 602 (Flux.jl)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