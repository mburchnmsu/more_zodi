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918400" cy="43891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[CHECK with mentor]</a:t>
            </a:r>
          </a:p>
          <a:p>
            <a:r>
              <a:t>- Problem statement: 'physics models such as Kelsall's were fit to older data and leave errors behind' -- right framing?</a:t>
            </a:r>
          </a:p>
          <a:p>
            <a:r>
              <a:t>- Acknowledgment: exact name of the URS grant/program and the NSF award number (if one should be listed).</a:t>
            </a:r>
          </a:p>
          <a:p>
            <a:r>
              <a:t>- Fig. 3: Jupiter and the Moon are drawn for context; the poster's model inputs are n.S n.z n.E n.vS n.vE n.x_E n.y_E sin/cos(lambda_E) (no Jupiter, no Moon).</a:t>
            </a:r>
          </a:p>
          <a:p>
            <a:r>
              <a:t>Numbers (poster v6): 5-network ensemble, 64-64-32-16 gelu (4 hidden layers), 750 epochs (round 21, z115_m750_shift*).</a:t>
            </a:r>
          </a:p>
          <a:p>
            <a:r>
              <a:t>- Fig. 2 (poster/data_components.jl): ZodiPy components per pointing as % of the total. Smooth cloud 90.1% (|b|&lt;5) to</a:t>
            </a:r>
          </a:p>
          <a:p>
            <a:r>
              <a:t>  94.8% (&gt;60 deg); behind Earth (n.vE&lt;-0.5, |b|&lt;15) the trailing cloud is 7.0% vs 1.1% ahead.</a:t>
            </a:r>
          </a:p>
          <a:p>
            <a:r>
              <a:t>- Fig. 4 (poster/data_accuracy.jl): trained on days 0-30, 60-90, 120-140; tested on days 30-60, 90-120 (180,166 pointings,</a:t>
            </a:r>
          </a:p>
          <a:p>
            <a:r>
              <a:t>  43%): median 0.018%, p95 0.069%, 97.5% within 0.1%. (100 epochs: 0.026%, 0.10%, 94.8%.)</a:t>
            </a:r>
          </a:p>
          <a:p>
            <a:r>
              <a:t>  Errors are relative to ZodiPy (the Kelsall model), not the real sky.</a:t>
            </a:r>
          </a:p>
          <a:p>
            <a:r>
              <a:t>- Fig. 5 (poster/data_training.jl): epoch-averaged MSE (mean of 10 in-epoch evaluations) on the training data and the</a:t>
            </a:r>
          </a:p>
          <a:p>
            <a:r>
              <a:t>  withheld months; final mean train/test MSE 2.5e-8 / 1.2e-7 (MJy/sr)^2.</a:t>
            </a:r>
          </a:p>
          <a:p>
            <a:r>
              <a:t>- Fig. 6: the 30-day split slid by 0, 10, ..., 50 days, 5 seeds each, 750 epochs. Red = withheld windows with training</a:t>
            </a:r>
          </a:p>
          <a:p>
            <a:r>
              <a:t>  data before and after (interpolation): 0.015-0.030%. Orange = windows at the mission's start/end (extrapolation in</a:t>
            </a:r>
          </a:p>
          <a:p>
            <a:r>
              <a:t>  time): 10 days 0.016-0.023%, 20-30 days 0.07-0.09% median.</a:t>
            </a:r>
          </a:p>
          <a:p>
            <a:r>
              <a:t>- Fig. 7 (poster/data_skyerror.jl): red (interior) windows only, 364,797 pointings (86%), each averaged over the versions</a:t>
            </a:r>
          </a:p>
          <a:p>
            <a:r>
              <a:t>  that withheld it: median 0.016%, p95 0.063%; within 2 deg of the ecliptic 0.083%, above 60 deg 0.0125%. Map: each</a:t>
            </a:r>
          </a:p>
          <a:p>
            <a:r>
              <a:t>  boresight spread over a disc on a 1-deg grid (radius 1.75 deg = 3.5-deg patches, or 3.5 deg = the 7-deg blend);</a:t>
            </a:r>
          </a:p>
          <a:p>
            <a:r>
              <a:t>  boresights lie on scan circles a few degrees apart, so without spreading thin pole-to-pole gaps appear.</a:t>
            </a:r>
          </a:p>
          <a:p>
            <a:r>
              <a:t>- Earth-trailing cloud (mentor's test, 10182026 notebook): stacking residuals along the ahead/behind-Earth angle and the</a:t>
            </a:r>
          </a:p>
          <a:p>
            <a:r>
              <a:t>  angle to the cloud's centre shows no leftover cloud signal; fitted missing fraction 0.06 +/- 0.09% (|b|&lt;15, 750 ep).</a:t>
            </a:r>
          </a:p>
          <a:p>
            <a:r>
              <a:t>- Multi-wavelength (Refine step): round-15 'ep300' ensemble, 30-day blocks, 1.25-5.0 um, ~0.1% median (poster/data_spectra.jl).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5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00" cy="51206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3657600" cy="4114800"/>
          </a:xfrm>
          <a:prstGeom prst="rect">
            <a:avLst/>
          </a:prstGeom>
        </p:spPr>
      </p:pic>
      <p:pic>
        <p:nvPicPr>
          <p:cNvPr id="4" name="Picture 3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0" y="457200"/>
            <a:ext cx="421326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0" y="182880"/>
            <a:ext cx="21945600" cy="23774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0" b="1">
                <a:solidFill>
                  <a:srgbClr val="FFFFFF"/>
                </a:solidFill>
                <a:latin typeface="Arial"/>
              </a:rPr>
              <a:t>Teaching a Neural Network the Glow of the Solar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560320"/>
            <a:ext cx="2194560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0">
                <a:solidFill>
                  <a:srgbClr val="FFD27A"/>
                </a:solidFill>
                <a:latin typeface="Arial"/>
              </a:rPr>
              <a:t>A geometrically constrained model of zodiacal light for NASA's SPHEREx 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3337560"/>
            <a:ext cx="21945600" cy="1600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Mark Burch and Andrew Saydjari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Astronomy Department, New Mexico State University, Las Cruces, NM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31455360" cy="1371600"/>
          </a:xfrm>
          <a:prstGeom prst="roundRect">
            <a:avLst>
              <a:gd name="adj" fmla="val 25000"/>
            </a:avLst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5486400"/>
            <a:ext cx="30358079" cy="13716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 geometrically constrained neural network learns the zodiacal light from viewing geometry alone, reaching ~0.02% median error on months it never saw.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7223760"/>
            <a:ext cx="15361920" cy="11025627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8595360"/>
            <a:ext cx="14538960" cy="217322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3000" b="1">
                <a:solidFill>
                  <a:srgbClr val="EEF3F8"/>
                </a:solidFill>
                <a:latin typeface="Arial"/>
              </a:rPr>
              <a:t>SPHEREx: </a:t>
            </a:r>
            <a:r>
              <a:rPr sz="3000" b="0">
                <a:solidFill>
                  <a:srgbClr val="EEF3F8"/>
                </a:solidFill>
                <a:latin typeface="Arial"/>
              </a:rPr>
              <a:t>NASA space telescope (launched March 2025) mapping the </a:t>
            </a:r>
            <a:r>
              <a:rPr sz="3000" b="1">
                <a:solidFill>
                  <a:srgbClr val="EEF3F8"/>
                </a:solidFill>
                <a:latin typeface="Arial"/>
              </a:rPr>
              <a:t>entire sky in infrared</a:t>
            </a:r>
            <a:r>
              <a:rPr sz="3000" b="0">
                <a:solidFill>
                  <a:srgbClr val="EEF3F8"/>
                </a:solidFill>
                <a:latin typeface="Arial"/>
              </a:rPr>
              <a:t> (0.75–5 μm)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3000" b="1">
                <a:solidFill>
                  <a:srgbClr val="EEF3F8"/>
                </a:solidFill>
                <a:latin typeface="Arial"/>
              </a:rPr>
              <a:t>Science: </a:t>
            </a:r>
            <a:r>
              <a:rPr sz="3000" b="0">
                <a:solidFill>
                  <a:srgbClr val="EEF3F8"/>
                </a:solidFill>
                <a:latin typeface="Arial"/>
              </a:rPr>
              <a:t>how the universe began, how galaxies formed, where water and other ingredients for life are found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10860024"/>
            <a:ext cx="7269480" cy="6712305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5FB0FF"/>
                </a:solidFill>
                <a:latin typeface="Arial"/>
              </a:rPr>
              <a:t>Zodiacal light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Sunlight scattered by dust from comets and asteroids, plus the dust's heat glow (Fig. 1)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Far brighter than the faint glow of distant galaxies SPHEREx aims to measure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Changes with pointing and Earth's place in orbit → </a:t>
            </a:r>
            <a:r>
              <a:rPr sz="2800" b="1">
                <a:solidFill>
                  <a:srgbClr val="EEF3F8"/>
                </a:solidFill>
                <a:latin typeface="Arial"/>
              </a:rPr>
              <a:t>must be modeled and removed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600"/>
              </a:spcAft>
            </a:pPr>
            <a:r>
              <a:rPr sz="3000" b="1">
                <a:solidFill>
                  <a:srgbClr val="5FB0FF"/>
                </a:solidFill>
                <a:latin typeface="Arial"/>
              </a:rPr>
              <a:t>The Kelsall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Standard dust model from NASA's COBE; </a:t>
            </a:r>
            <a:r>
              <a:rPr sz="2800" b="1">
                <a:solidFill>
                  <a:srgbClr val="EEF3F8"/>
                </a:solidFill>
                <a:latin typeface="Arial"/>
              </a:rPr>
              <a:t>ZodiPy</a:t>
            </a:r>
            <a:r>
              <a:rPr sz="2800" b="0">
                <a:solidFill>
                  <a:srgbClr val="EEF3F8"/>
                </a:solidFill>
                <a:latin typeface="Arial"/>
              </a:rPr>
              <a:t> evaluates its prediction of the zodiacal-light contribution to what SPHEREx observes</a:t>
            </a:r>
          </a:p>
        </p:txBody>
      </p:sp>
      <p:pic>
        <p:nvPicPr>
          <p:cNvPr id="15" name="Picture 14" descr="sky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1134344"/>
            <a:ext cx="6995160" cy="41970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0" y="15422880"/>
            <a:ext cx="6995160" cy="17099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A9B6C6"/>
                </a:solidFill>
                <a:latin typeface="Arial"/>
              </a:rPr>
              <a:t>Figure 1. </a:t>
            </a:r>
            <a:r>
              <a:rPr sz="2600" b="0">
                <a:solidFill>
                  <a:srgbClr val="A9B6C6"/>
                </a:solidFill>
                <a:latin typeface="Arial"/>
              </a:rPr>
              <a:t>The whole sky at 5 μm from SPHEREx (ZodiPy): brightest toward the Sun and along the plane of the planets. Grey: too close to the Sun to observe.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18660867"/>
            <a:ext cx="15361920" cy="3713927"/>
          </a:xfrm>
          <a:prstGeom prst="rect">
            <a:avLst/>
          </a:prstGeom>
          <a:solidFill>
            <a:srgbClr val="2A2416"/>
          </a:solidFill>
          <a:ln w="76200">
            <a:solidFill>
              <a:srgbClr val="FFB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18862035"/>
            <a:ext cx="7040880" cy="30723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5FB0FF"/>
                </a:solidFill>
                <a:latin typeface="Arial"/>
              </a:rPr>
              <a:t>The problem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Zodiacal light must be removed from every SPHEREx image, but Kelsall's model uses a finite number of analytic components that don't fully describe the spatial and spectral structure in real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18862035"/>
            <a:ext cx="7040880" cy="261152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5FB0FF"/>
                </a:solidFill>
                <a:latin typeface="Arial"/>
              </a:rPr>
              <a:t>Research objective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A </a:t>
            </a:r>
            <a:r>
              <a:rPr sz="2800" b="1">
                <a:solidFill>
                  <a:srgbClr val="EEF3F8"/>
                </a:solidFill>
                <a:latin typeface="Arial"/>
              </a:rPr>
              <a:t>geometrically constrained</a:t>
            </a:r>
            <a:r>
              <a:rPr sz="2800" b="0">
                <a:solidFill>
                  <a:srgbClr val="EEF3F8"/>
                </a:solidFill>
                <a:latin typeface="Arial"/>
              </a:rPr>
              <a:t> neural network that learns zodiacal light from SPHEREx data and </a:t>
            </a:r>
            <a:r>
              <a:rPr sz="2800" b="1">
                <a:solidFill>
                  <a:srgbClr val="EEF3F8"/>
                </a:solidFill>
                <a:latin typeface="Arial"/>
              </a:rPr>
              <a:t>outperforms the Kelsall model</a:t>
            </a:r>
            <a:r>
              <a:rPr sz="2800" b="0">
                <a:solidFill>
                  <a:srgbClr val="EEF3F8"/>
                </a:solidFill>
                <a:latin typeface="Arial"/>
              </a:rPr>
              <a:t>. First step: ZodiPy's simulated sky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22786274"/>
            <a:ext cx="15361920" cy="17447325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22786274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2786274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24837124"/>
            <a:ext cx="6122822" cy="45311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5FB0FF"/>
                </a:solidFill>
                <a:latin typeface="Arial"/>
              </a:rPr>
              <a:t>A geometrically constrained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No dates or sky coordinates: only </a:t>
            </a:r>
            <a:r>
              <a:rPr sz="2800" b="1">
                <a:solidFill>
                  <a:srgbClr val="EEF3F8"/>
                </a:solidFill>
                <a:latin typeface="Arial"/>
              </a:rPr>
              <a:t>9 numbers describing the viewing geometry</a:t>
            </a:r>
            <a:r>
              <a:rPr sz="2800" b="0">
                <a:solidFill>
                  <a:srgbClr val="EEF3F8"/>
                </a:solidFill>
                <a:latin typeface="Arial"/>
              </a:rPr>
              <a:t> (Fig. 2), dot products of the pointing vector n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It must learn how brightness depends on geometry, as the physics does, not memorize when and where SPHEREx looked</a:t>
            </a:r>
          </a:p>
        </p:txBody>
      </p:sp>
      <p:pic>
        <p:nvPicPr>
          <p:cNvPr id="24" name="Picture 23" descr="geometry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0142" y="24334485"/>
            <a:ext cx="8141817" cy="553643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143000" y="29962361"/>
            <a:ext cx="14538960" cy="17099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A9B6C6"/>
                </a:solidFill>
                <a:latin typeface="Arial"/>
              </a:rPr>
              <a:t>Figure 2. </a:t>
            </a:r>
            <a:r>
              <a:rPr sz="2600" b="0">
                <a:solidFill>
                  <a:srgbClr val="A9B6C6"/>
                </a:solidFill>
                <a:latin typeface="Arial"/>
              </a:rPr>
              <a:t>The geometry the network sees (top view, not to scale): n = SPHEREx's pointing vector; S, E = SPHEREx, Earth positions; v = orbital motion; λ⊕ = Earth's angle around its orbit. Jupiter and the Moon are tracked for real data: dust clouds leading and trailing Jupiter, and moonlight.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32031779"/>
            <a:ext cx="1453896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5FB0FF"/>
                </a:solidFill>
                <a:latin typeface="Arial"/>
              </a:rPr>
              <a:t>The 9 inputs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32653571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n·S, n·E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83480" y="32653571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toward or away from the Sun (seen from SPHEREx and from Earth)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3165635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n·z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3480" y="33165635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how far above or below the plane of the planets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33677699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n·vS, n·vE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3480" y="33677699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ahead of or behind the orbital motion (SPHEREx, Earth)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34189763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n·x⊕, n·y⊕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83480" y="34189763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Earth-following frame: x⊕ = Sun → Earth, y⊕ = Earth's motion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34701827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sin λ⊕, cos λ⊕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83480" y="34701827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Earth's position in its orbit: the time of year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35573381"/>
            <a:ext cx="6995160" cy="314858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5FB0FF"/>
                </a:solidFill>
                <a:latin typeface="Arial"/>
              </a:rPr>
              <a:t>Training and testing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423,607 simulated pointings (140 days, 5 μm); five small networks (Flux.jl), averaged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Tested on whole months and sky regions they never saw</a:t>
            </a:r>
          </a:p>
        </p:txBody>
      </p:sp>
      <p:pic>
        <p:nvPicPr>
          <p:cNvPr id="38" name="Picture 37" descr="training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0" y="35573381"/>
            <a:ext cx="7269480" cy="300471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143000" y="38813405"/>
            <a:ext cx="14538960" cy="87782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A9B6C6"/>
                </a:solidFill>
                <a:latin typeface="Arial"/>
              </a:rPr>
              <a:t>Figure 3. </a:t>
            </a:r>
            <a:r>
              <a:rPr sz="2600" b="0">
                <a:solidFill>
                  <a:srgbClr val="A9B6C6"/>
                </a:solidFill>
                <a:latin typeface="Arial"/>
              </a:rPr>
              <a:t>Error during training: 5 networks (thin), average (thick). The error on withheld months levels off and never rises: no overfitting.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824960" y="7223760"/>
            <a:ext cx="15361920" cy="2788920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7236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236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5FB0FF"/>
                </a:solidFill>
                <a:latin typeface="Arial"/>
              </a:rPr>
              <a:t>0.018%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236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median error on months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withheld from training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89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2189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5FB0FF"/>
                </a:solidFill>
                <a:latin typeface="Arial"/>
              </a:rPr>
              <a:t>97.5%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189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of pointings within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0.1% of ZodiPy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142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142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5FB0FF"/>
                </a:solidFill>
                <a:latin typeface="Arial"/>
              </a:rPr>
              <a:t>≤0.03%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142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median error for every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choice of withheld months</a:t>
            </a:r>
          </a:p>
        </p:txBody>
      </p:sp>
      <p:pic>
        <p:nvPicPr>
          <p:cNvPr id="52" name="Picture 51" descr="accuracy2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963388" y="11229487"/>
            <a:ext cx="13085064" cy="654253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7236440" y="17863459"/>
            <a:ext cx="14538960" cy="1293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A9B6C6"/>
                </a:solidFill>
                <a:latin typeface="Arial"/>
              </a:rPr>
              <a:t>Figure 4. </a:t>
            </a:r>
            <a:r>
              <a:rPr sz="2600" b="0">
                <a:solidFill>
                  <a:srgbClr val="A9B6C6"/>
                </a:solidFill>
                <a:latin typeface="Arial"/>
              </a:rPr>
              <a:t>Network vs. ZodiPy on the two 30-day blocks never used in training (days 30–60, 90–120; 180,166 pointings). Left: error through the mission; right: every pointing falls on the 1:1 line.</a:t>
            </a:r>
          </a:p>
        </p:txBody>
      </p:sp>
      <p:pic>
        <p:nvPicPr>
          <p:cNvPr id="54" name="Picture 53" descr="shifts_dar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326862" y="19322582"/>
            <a:ext cx="12358116" cy="556115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7236440" y="24975174"/>
            <a:ext cx="14538960" cy="1293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A9B6C6"/>
                </a:solidFill>
                <a:latin typeface="Arial"/>
              </a:rPr>
              <a:t>Figure 5. </a:t>
            </a:r>
            <a:r>
              <a:rPr sz="2600" b="0">
                <a:solidFill>
                  <a:srgbClr val="A9B6C6"/>
                </a:solidFill>
                <a:latin typeface="Arial"/>
              </a:rPr>
              <a:t>Six versions of the test, sliding the withheld months 10 days at a time: all reach 0.015–0.03% (red). Predicting past the start/end of the data (orange) is harder: fine for ~10 days, then errors grow.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7236440" y="26434298"/>
            <a:ext cx="14538960" cy="217322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3000" b="1">
                <a:solidFill>
                  <a:srgbClr val="EEF3F8"/>
                </a:solidFill>
                <a:latin typeface="Arial"/>
              </a:rPr>
              <a:t>Largest errors </a:t>
            </a:r>
            <a:r>
              <a:rPr sz="3000" b="0">
                <a:solidFill>
                  <a:srgbClr val="EEF3F8"/>
                </a:solidFill>
                <a:latin typeface="Arial"/>
              </a:rPr>
              <a:t>along the plane of the planets, where the dust bands are; </a:t>
            </a:r>
            <a:r>
              <a:rPr sz="3000" b="1">
                <a:solidFill>
                  <a:srgbClr val="EEF3F8"/>
                </a:solidFill>
                <a:latin typeface="Arial"/>
              </a:rPr>
              <a:t>smallest </a:t>
            </a:r>
            <a:r>
              <a:rPr sz="3000" b="0">
                <a:solidFill>
                  <a:srgbClr val="EEF3F8"/>
                </a:solidFill>
                <a:latin typeface="Arial"/>
              </a:rPr>
              <a:t>toward the poles (Fig. 6)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3000" b="1">
                <a:solidFill>
                  <a:srgbClr val="EEF3F8"/>
                </a:solidFill>
                <a:latin typeface="Arial"/>
              </a:rPr>
              <a:t>More data: </a:t>
            </a:r>
            <a:r>
              <a:rPr sz="3000" b="0">
                <a:solidFill>
                  <a:srgbClr val="EEF3F8"/>
                </a:solidFill>
                <a:latin typeface="Arial"/>
              </a:rPr>
              <a:t>with all 500 days the whole sky is tested and the plane-of-the-planets error drops (0.083% → 0.063%)</a:t>
            </a:r>
          </a:p>
        </p:txBody>
      </p:sp>
      <p:pic>
        <p:nvPicPr>
          <p:cNvPr id="57" name="Picture 56" descr="skyerror_pair_da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236440" y="28772769"/>
            <a:ext cx="14538960" cy="4652467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7236440" y="33516676"/>
            <a:ext cx="14538960" cy="1293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A9B6C6"/>
                </a:solidFill>
                <a:latin typeface="Arial"/>
              </a:rPr>
              <a:t>Figure 6. </a:t>
            </a:r>
            <a:r>
              <a:rPr sz="2600" b="0">
                <a:solidFill>
                  <a:srgbClr val="A9B6C6"/>
                </a:solidFill>
                <a:latin typeface="Arial"/>
              </a:rPr>
              <a:t>Error on pointings the network never saw, across the sky (3.5° patches, about SPHEREx's view). Left: the first 140 days. Right: all 500 days now available (that model also uses Jupiter's direction, n·J). Grey: not tested.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824960" y="35524440"/>
            <a:ext cx="15361920" cy="4709159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6824960" y="35524440"/>
            <a:ext cx="15361920" cy="91440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6824960" y="35524440"/>
            <a:ext cx="1536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7236440" y="3675888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16304F"/>
          </a:solidFill>
          <a:ln w="63500">
            <a:solidFill>
              <a:srgbClr val="66BB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7419320" y="3683203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EEF3F8"/>
                </a:solidFill>
                <a:latin typeface="Arial"/>
              </a:rPr>
              <a:t>✓ DONE: Validate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EEF3F8"/>
                </a:solidFill>
                <a:latin typeface="Arial"/>
              </a:rPr>
              <a:t>Learn ZodiPy's simulated sky from geometry alone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24323040" y="37216080"/>
            <a:ext cx="365759" cy="365760"/>
          </a:xfrm>
          <a:prstGeom prst="rightArrow">
            <a:avLst/>
          </a:prstGeom>
          <a:solidFill>
            <a:srgbClr val="FF6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24780240" y="3675888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16304F"/>
          </a:solidFill>
          <a:ln w="63500">
            <a:solidFill>
              <a:srgbClr val="FFB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4963120" y="3683203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EEF3F8"/>
                </a:solidFill>
                <a:latin typeface="Arial"/>
              </a:rPr>
              <a:t>IN PROGRESS: Refine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EEF3F8"/>
                </a:solidFill>
                <a:latin typeface="Arial"/>
              </a:rPr>
              <a:t>More data (500 days), longer training, Jupiter's direction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7236440" y="3826764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16304F"/>
          </a:solidFill>
          <a:ln w="63500">
            <a:solidFill>
              <a:srgbClr val="A9B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7419320" y="3834079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EEF3F8"/>
                </a:solidFill>
                <a:latin typeface="Arial"/>
              </a:rPr>
              <a:t>NEXT: Scale up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EEF3F8"/>
                </a:solidFill>
                <a:latin typeface="Arial"/>
              </a:rPr>
              <a:t>Move training to a computing cluster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24323040" y="38724839"/>
            <a:ext cx="365759" cy="365760"/>
          </a:xfrm>
          <a:prstGeom prst="rightArrow">
            <a:avLst/>
          </a:prstGeom>
          <a:solidFill>
            <a:srgbClr val="FF6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24780240" y="3826764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16304F"/>
          </a:solidFill>
          <a:ln w="63500">
            <a:solidFill>
              <a:srgbClr val="A9B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4963120" y="3834079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EEF3F8"/>
                </a:solidFill>
                <a:latin typeface="Arial"/>
              </a:rPr>
              <a:t>NEXT: Real data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EEF3F8"/>
                </a:solidFill>
                <a:latin typeface="Arial"/>
              </a:rPr>
              <a:t>Train on real SPHEREx images; compare with Kelsall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7236440" y="39684960"/>
            <a:ext cx="145389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0">
                <a:solidFill>
                  <a:srgbClr val="A9B6C6"/>
                </a:solidFill>
                <a:latin typeface="Arial"/>
              </a:rPr>
              <a:t>All results so far are preliminary and use simulated data.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31520" y="40599360"/>
            <a:ext cx="15361920" cy="283464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Acknowledgements</a:t>
            </a:r>
          </a:p>
        </p:txBody>
      </p:sp>
      <p:pic>
        <p:nvPicPr>
          <p:cNvPr id="76" name="Picture 75" descr="logo_ns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036040" y="41559480"/>
            <a:ext cx="1640792" cy="1645919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143000" y="41513760"/>
            <a:ext cx="12618720" cy="182879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This research is supported by a URS grant at New Mexico State University, funded by the National Science Foundation (NSF). Thank you to Dr. Andrew Saydjari for mentorship, and to the developers of ZodiPy and Flux.jl.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6824960" y="40599360"/>
            <a:ext cx="15361920" cy="283464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References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23644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Kelsall, T., et al. 1998, ApJ, 508, 44 (COBE/DIRBE zodiacal-light model)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San, M., et al. 2022, JOSS, 7, 4602 (ZodiPy)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468880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Doré, O., et al. 2014, arXiv:1412.4872 (SPHEREx)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Innes, M. 2018, JOSS, 3, 602 (Flux.jl)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