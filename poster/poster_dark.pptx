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102562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SPHEREx: </a:t>
            </a:r>
            <a:r>
              <a:rPr sz="30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3000" b="1">
                <a:solidFill>
                  <a:srgbClr val="FFC861"/>
                </a:solidFill>
                <a:latin typeface="Arial"/>
              </a:rPr>
              <a:t>entire sky in infrared</a:t>
            </a:r>
            <a:r>
              <a:rPr sz="30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Science: </a:t>
            </a:r>
            <a:r>
              <a:rPr sz="30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860024"/>
            <a:ext cx="7269480" cy="671230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Changes with pointing and Earth's place in orbit → </a:t>
            </a:r>
            <a:r>
              <a:rPr sz="2800" b="1">
                <a:solidFill>
                  <a:srgbClr val="FFC861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Standard dust model from NASA's COBE; </a:t>
            </a:r>
            <a:r>
              <a:rPr sz="2800" b="1">
                <a:solidFill>
                  <a:srgbClr val="FFC861"/>
                </a:solidFill>
                <a:latin typeface="Arial"/>
              </a:rPr>
              <a:t>ZodiPy</a:t>
            </a:r>
            <a:r>
              <a:rPr sz="2800" b="0">
                <a:solidFill>
                  <a:srgbClr val="EEF3F8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1134344"/>
            <a:ext cx="6995160" cy="41970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0" y="15422880"/>
            <a:ext cx="69951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6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8660867"/>
            <a:ext cx="15361920" cy="3713927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8862035"/>
            <a:ext cx="7040880" cy="30723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8862035"/>
            <a:ext cx="7040880" cy="261152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A </a:t>
            </a:r>
            <a:r>
              <a:rPr sz="2800" b="1">
                <a:solidFill>
                  <a:srgbClr val="FFC861"/>
                </a:solidFill>
                <a:latin typeface="Arial"/>
              </a:rPr>
              <a:t>geometrically constrained</a:t>
            </a:r>
            <a:r>
              <a:rPr sz="28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800" b="1">
                <a:solidFill>
                  <a:srgbClr val="FFC861"/>
                </a:solidFill>
                <a:latin typeface="Arial"/>
              </a:rPr>
              <a:t>outperforms the Kelsall model</a:t>
            </a:r>
            <a:r>
              <a:rPr sz="28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2786274"/>
            <a:ext cx="15361920" cy="1744732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278627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4837124"/>
            <a:ext cx="6122822" cy="45311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No dates or sky coordinates: only </a:t>
            </a:r>
            <a:r>
              <a:rPr sz="2800" b="1">
                <a:solidFill>
                  <a:srgbClr val="FFC861"/>
                </a:solidFill>
                <a:latin typeface="Arial"/>
              </a:rPr>
              <a:t>9 numbers describing the viewing geometry</a:t>
            </a:r>
            <a:r>
              <a:rPr sz="2800" b="0">
                <a:solidFill>
                  <a:srgbClr val="EEF3F8"/>
                </a:solidFill>
                <a:latin typeface="Arial"/>
              </a:rPr>
              <a:t> (Fig. 2),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0142" y="24334485"/>
            <a:ext cx="8141817" cy="553643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9962361"/>
            <a:ext cx="14538960" cy="170992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600" b="0">
                <a:solidFill>
                  <a:srgbClr val="A9B6C6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2031779"/>
            <a:ext cx="1453896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2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653571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2653571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3165635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165635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3677699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3677699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4189763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83480" y="34189763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4701827"/>
            <a:ext cx="365760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3480" y="34701827"/>
            <a:ext cx="10698480" cy="5120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5573381"/>
            <a:ext cx="6995160" cy="3148583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8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</p:txBody>
      </p:sp>
      <p:pic>
        <p:nvPicPr>
          <p:cNvPr id="38" name="Picture 37" descr="training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73381"/>
            <a:ext cx="7269480" cy="300471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813405"/>
            <a:ext cx="14538960" cy="8778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78892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963388" y="11229487"/>
            <a:ext cx="13085064" cy="65425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7863459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6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shifts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26862" y="19322582"/>
            <a:ext cx="12358116" cy="556115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4975174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6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236440" y="26434298"/>
            <a:ext cx="14538960" cy="217322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Largest errors </a:t>
            </a:r>
            <a:r>
              <a:rPr sz="3000" b="0">
                <a:solidFill>
                  <a:srgbClr val="EEF3F8"/>
                </a:solidFill>
                <a:latin typeface="Arial"/>
              </a:rPr>
              <a:t>along the plane of the planets, where the dust bands are; </a:t>
            </a:r>
            <a:r>
              <a:rPr sz="3000" b="1">
                <a:solidFill>
                  <a:srgbClr val="FFC861"/>
                </a:solidFill>
                <a:latin typeface="Arial"/>
              </a:rPr>
              <a:t>smallest </a:t>
            </a:r>
            <a:r>
              <a:rPr sz="3000" b="0">
                <a:solidFill>
                  <a:srgbClr val="EEF3F8"/>
                </a:solidFill>
                <a:latin typeface="Arial"/>
              </a:rPr>
              <a:t>toward the poles (Fig.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3000" b="1">
                <a:solidFill>
                  <a:srgbClr val="FFC861"/>
                </a:solidFill>
                <a:latin typeface="Arial"/>
              </a:rPr>
              <a:t>More data: </a:t>
            </a:r>
            <a:r>
              <a:rPr sz="3000" b="0">
                <a:solidFill>
                  <a:srgbClr val="EEF3F8"/>
                </a:solidFill>
                <a:latin typeface="Arial"/>
              </a:rPr>
              <a:t>with all 500 days the whole sky is tested and the plane-of-the-planets error drops (0.083% → 0.064%)</a:t>
            </a:r>
          </a:p>
        </p:txBody>
      </p:sp>
      <p:pic>
        <p:nvPicPr>
          <p:cNvPr id="57" name="Picture 56" descr="skyerror_pair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236440" y="28772769"/>
            <a:ext cx="14538960" cy="465246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236440" y="33516676"/>
            <a:ext cx="14538960" cy="1293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600" b="0">
                <a:solidFill>
                  <a:srgbClr val="A9B6C6"/>
                </a:solidFill>
                <a:latin typeface="Arial"/>
              </a:rPr>
              <a:t>Error on pointings the network never saw, across the sky (3.5° patches, about SPHEREx's view). Left: the first 140 days. Right: all 500 days now available (that model also uses Jupiter's direction, n·J). Grey: not tested.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824960" y="35524440"/>
            <a:ext cx="15361920" cy="47091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824960" y="355244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2364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4193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✓ DONE: Validate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Learn ZodiPy's simulated sky from geometry alone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24323040" y="37216080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4780240" y="3675888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963120" y="3683203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IN PROGRESS: Refine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More data (500 days), longer training, Jupiter's direction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2364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193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Scale 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323040" y="38724839"/>
            <a:ext cx="365759" cy="365760"/>
          </a:xfrm>
          <a:prstGeom prst="right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4780240" y="38267640"/>
            <a:ext cx="6995160" cy="1280159"/>
          </a:xfrm>
          <a:prstGeom prst="roundRect">
            <a:avLst>
              <a:gd name="adj" fmla="val 12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4963120" y="38340792"/>
            <a:ext cx="6629400" cy="1133855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EEF3F8"/>
                </a:solidFill>
                <a:latin typeface="Arial"/>
              </a:rPr>
              <a:t>NEXT: Real data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Train on real SPHEREx images; compare with Kelsall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236440" y="39684960"/>
            <a:ext cx="145389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76" name="Picture 75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