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 with mentor]</a:t>
            </a:r>
          </a:p>
          <a:p>
            <a:r>
              <a:t>- Problem statement: 'physics models such as Kelsall's were fit to older data and leave errors behind' -- right framing?</a:t>
            </a:r>
          </a:p>
          <a:p>
            <a:r>
              <a:t>- Acknowledgment: exact name of the URS grant/program and the NSF award number (if one should be listed).</a:t>
            </a:r>
          </a:p>
          <a:p>
            <a:r>
              <a:t>- Fig. 2: Jupiter and the Moon are drawn for context; the poster's model inputs are n.S n.z n.E n.vS n.vE n.x_E n.y_E sin/cos(lambda_E) (no Jupiter, no Moon).</a:t>
            </a:r>
          </a:p>
          <a:p>
            <a:r>
              <a:t>Numbers (poster/data_accuracy.jl, data_blocks.jl): 5-network ensemble, 64-64-32-16 gelu.</a:t>
            </a:r>
          </a:p>
          <a:p>
            <a:r>
              <a:t>  Trained on days 0-30, 60-90, 120-140; tested on days 30-60, 90-120 (180,166 pointings, 43%): median 0.026%, p95 0.10%, 94.8% within 0.1%, RMS 0.058%.</a:t>
            </a:r>
          </a:p>
          <a:p>
            <a:r>
              <a:t>  Random 10% withheld: median 0.015%. Errors are relative to ZodiPy (the Kelsall model), not the real sky.</a:t>
            </a:r>
          </a:p>
          <a:p>
            <a:r>
              <a:t>- Fig. 3 (poster/data_training.jl): per-epoch MSE of each network on its training data and on the withheld data; final mean</a:t>
            </a:r>
          </a:p>
          <a:p>
            <a:r>
              <a:t>  train/test MSE 1.2e-7 / 2.3e-7 (MJy/sr)^2 for the 30-day split, 6.2e-8 / 5.9e-8 for the random 10%.</a:t>
            </a:r>
          </a:p>
          <a:p>
            <a:r>
              <a:t>- Fig. 5 (round 16, 10152026 notebook): the 30-day split slid by 0, 10, ..., 50 days, 5 seeds each. Red = withheld windows</a:t>
            </a:r>
          </a:p>
          <a:p>
            <a:r>
              <a:t>  with training data before and after (interpolation): 0.023-0.037%. Orange = withheld windows at the mission's start/end</a:t>
            </a:r>
          </a:p>
          <a:p>
            <a:r>
              <a:t>  (extrapolation in time): 10 days 0.03-0.04%, 20-30 days 0.11-0.22% median.</a:t>
            </a:r>
          </a:p>
          <a:p>
            <a:r>
              <a:t>- Fig. 6 (poster/data_skyerror.jl): red (interior) windows only, 364,797 pointings (86%), each averaged over the versions</a:t>
            </a:r>
          </a:p>
          <a:p>
            <a:r>
              <a:t>  that withheld it. Within 2 deg of the ecliptic 0.094%, above 60 deg 0.016%. Map: each boresight spread over a</a:t>
            </a:r>
          </a:p>
          <a:p>
            <a:r>
              <a:t>  1.75-deg-radius disc on a 1-deg grid (boresights lie on scan circles a few degrees apart; without spreading, thin</a:t>
            </a:r>
          </a:p>
          <a:p>
            <a:r>
              <a:t>  pole-to-pole gaps appear).</a:t>
            </a:r>
          </a:p>
          <a:p>
            <a:r>
              <a:t>- Multi-wavelength (Refine step): round-15 'ep300' ensemble, 30-day blocks, 1.25-5.0 um, ~0.1% median (poster/data_spectra.jl).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5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51206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3657600" cy="4114800"/>
          </a:xfrm>
          <a:prstGeom prst="rect">
            <a:avLst/>
          </a:prstGeom>
        </p:spPr>
      </p:pic>
      <p:pic>
        <p:nvPicPr>
          <p:cNvPr id="4" name="Picture 3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0" y="457200"/>
            <a:ext cx="421326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82880"/>
            <a:ext cx="2194560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Arial"/>
              </a:rPr>
              <a:t>Teaching a Neural Network the Glow of the Solar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560320"/>
            <a:ext cx="2194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0">
                <a:solidFill>
                  <a:srgbClr val="FFD27A"/>
                </a:solidFill>
                <a:latin typeface="Arial"/>
              </a:rPr>
              <a:t>A geometrically constrained model of zodiacal light for NASA's SPHEREx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337560"/>
            <a:ext cx="21945600" cy="1600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Mark Burch and Andrew Saydjari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Astronomy Department, New Mexico State University, Las Cruces, NM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31455360" cy="1371600"/>
          </a:xfrm>
          <a:prstGeom prst="roundRect">
            <a:avLst>
              <a:gd name="adj" fmla="val 25000"/>
            </a:avLst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5486400"/>
            <a:ext cx="30358079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 geometrically constrained neural network learns the zodiacal light from viewing geometry alone, reaching ~0.03% median error on months it never saw.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7223760"/>
            <a:ext cx="15361920" cy="9966301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595360"/>
            <a:ext cx="14538960" cy="19860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SPHEREx: </a:t>
            </a:r>
            <a:r>
              <a:rPr sz="2600" b="0">
                <a:solidFill>
                  <a:srgbClr val="EEF3F8"/>
                </a:solidFill>
                <a:latin typeface="Arial"/>
              </a:rPr>
              <a:t>NASA space telescope, launched in March 2025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0">
                <a:solidFill>
                  <a:srgbClr val="EEF3F8"/>
                </a:solidFill>
                <a:latin typeface="Arial"/>
              </a:rPr>
              <a:t>Maps the </a:t>
            </a:r>
            <a:r>
              <a:rPr sz="2600" b="1">
                <a:solidFill>
                  <a:srgbClr val="EEF3F8"/>
                </a:solidFill>
                <a:latin typeface="Arial"/>
              </a:rPr>
              <a:t>entire sky across a range of infrared wavelengths</a:t>
            </a:r>
            <a:r>
              <a:rPr sz="2600" b="0">
                <a:solidFill>
                  <a:srgbClr val="EEF3F8"/>
                </a:solidFill>
                <a:latin typeface="Arial"/>
              </a:rPr>
              <a:t> (0.75–5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Science: </a:t>
            </a:r>
            <a:r>
              <a:rPr sz="2600" b="0">
                <a:solidFill>
                  <a:srgbClr val="EEF3F8"/>
                </a:solidFill>
                <a:latin typeface="Arial"/>
              </a:rPr>
              <a:t>how the universe began, how galaxies formed, and where water and other ingredients for life are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0672876"/>
            <a:ext cx="7705648" cy="5932627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5FB0FF"/>
                </a:solidFill>
                <a:latin typeface="Arial"/>
              </a:rPr>
              <a:t>Zodiacal light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Sunlight scattered by dust from comets and asteroids, plus the dust's heat glow (Fig. 1)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Bright enough to be confused with faint light from distant galaxies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Changes with look direction and Earth's place in orbit → </a:t>
            </a:r>
            <a:r>
              <a:rPr sz="2400" b="1">
                <a:solidFill>
                  <a:srgbClr val="EEF3F8"/>
                </a:solidFill>
                <a:latin typeface="Arial"/>
              </a:rPr>
              <a:t>must be modeled and removed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600"/>
              </a:spcAft>
            </a:pPr>
            <a:r>
              <a:rPr sz="2600" b="1">
                <a:solidFill>
                  <a:srgbClr val="5FB0FF"/>
                </a:solidFill>
                <a:latin typeface="Arial"/>
              </a:rPr>
              <a:t>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Standard dust model (Kelsall et al. 1998, NASA's COBE): smooth cloud, three dust bands, a ring around the Sun, a clump trailing Earth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1">
                <a:solidFill>
                  <a:srgbClr val="EEF3F8"/>
                </a:solidFill>
                <a:latin typeface="Arial"/>
              </a:rPr>
              <a:t>ZodiPy</a:t>
            </a:r>
            <a:r>
              <a:rPr sz="2400" b="0">
                <a:solidFill>
                  <a:srgbClr val="EEF3F8"/>
                </a:solidFill>
                <a:latin typeface="Arial"/>
              </a:rPr>
              <a:t> computes what a telescope sees; we use it to simulate SPHEREx data</a:t>
            </a:r>
          </a:p>
        </p:txBody>
      </p:sp>
      <p:pic>
        <p:nvPicPr>
          <p:cNvPr id="15" name="Picture 14" descr="sky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2968" y="10947196"/>
            <a:ext cx="6558991" cy="393539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22968" y="14974031"/>
            <a:ext cx="6558991" cy="14538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1. </a:t>
            </a:r>
            <a:r>
              <a:rPr sz="2200" b="0">
                <a:solidFill>
                  <a:srgbClr val="A9B6C6"/>
                </a:solidFill>
                <a:latin typeface="Arial"/>
              </a:rPr>
              <a:t>The whole sky at 5 μm from SPHEREx (ZodiPy): brightest toward the Sun and along the plane of the planets. Grey: too close to the Sun to observe.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7601541"/>
            <a:ext cx="15361920" cy="3480657"/>
          </a:xfrm>
          <a:prstGeom prst="rect">
            <a:avLst/>
          </a:prstGeom>
          <a:solidFill>
            <a:srgbClr val="2A2416"/>
          </a:solidFill>
          <a:ln w="76200">
            <a:solidFill>
              <a:srgbClr val="FFB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17802709"/>
            <a:ext cx="7040880" cy="244083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5FB0FF"/>
                </a:solidFill>
                <a:latin typeface="Arial"/>
              </a:rPr>
              <a:t>The problem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Zodiacal light must be removed from every SPHEREx image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Physics models such as Kelsall's were fit to older data and leave errors behind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17802709"/>
            <a:ext cx="7040880" cy="285231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5FB0FF"/>
                </a:solidFill>
                <a:latin typeface="Arial"/>
              </a:rPr>
              <a:t>Research objective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Build a </a:t>
            </a:r>
            <a:r>
              <a:rPr sz="2500" b="1">
                <a:solidFill>
                  <a:srgbClr val="EEF3F8"/>
                </a:solidFill>
                <a:latin typeface="Arial"/>
              </a:rPr>
              <a:t>geometrically constrained</a:t>
            </a:r>
            <a:r>
              <a:rPr sz="2500" b="0">
                <a:solidFill>
                  <a:srgbClr val="EEF3F8"/>
                </a:solidFill>
                <a:latin typeface="Arial"/>
              </a:rPr>
              <a:t> neural network that learns zodiacal light from SPHEREx data and </a:t>
            </a:r>
            <a:r>
              <a:rPr sz="2500" b="1">
                <a:solidFill>
                  <a:srgbClr val="EEF3F8"/>
                </a:solidFill>
                <a:latin typeface="Arial"/>
              </a:rPr>
              <a:t>outperforms 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First step (this poster): learn ZodiPy's simulated sky from geometry alone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21493679"/>
            <a:ext cx="15361920" cy="1873992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21493679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1493679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23479725"/>
            <a:ext cx="6268212" cy="457443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5FB0FF"/>
                </a:solidFill>
                <a:latin typeface="Arial"/>
              </a:rPr>
              <a:t>A geometrically constrained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No dates and no sky-map positions as inputs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Only </a:t>
            </a:r>
            <a:r>
              <a:rPr sz="2500" b="1">
                <a:solidFill>
                  <a:srgbClr val="EEF3F8"/>
                </a:solidFill>
                <a:latin typeface="Arial"/>
              </a:rPr>
              <a:t>9 numbers describing the viewing geometry</a:t>
            </a:r>
            <a:r>
              <a:rPr sz="2500" b="0">
                <a:solidFill>
                  <a:srgbClr val="EEF3F8"/>
                </a:solidFill>
                <a:latin typeface="Arial"/>
              </a:rPr>
              <a:t> (Fig. 2): dot products of the look direction n, plus Earth's place in its orbit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Must learn how brightness depends on geometry, as the physics does, not memorize when and where SPHEREx looked</a:t>
            </a:r>
          </a:p>
        </p:txBody>
      </p:sp>
      <p:pic>
        <p:nvPicPr>
          <p:cNvPr id="24" name="Picture 23" descr="geometry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5532" y="23048159"/>
            <a:ext cx="7996428" cy="543757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43000" y="28577170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2. </a:t>
            </a:r>
            <a:r>
              <a:rPr sz="2200" b="0">
                <a:solidFill>
                  <a:srgbClr val="A9B6C6"/>
                </a:solidFill>
                <a:latin typeface="Arial"/>
              </a:rPr>
              <a:t>The geometry the network sees (top view, not to scale): n = where SPHEREx looks; S, E = Sun → SPHEREx, Earth; v = orbital motion; λ⊕ = Earth's angle around its orbit. Jupiter and the Moon: context only.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0009209"/>
            <a:ext cx="145389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The 9 inputs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0557849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n·S, n·E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30557849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toward or away from the Sun (seen from SPHEREx and from Earth)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0987617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n·z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0987617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how far above or below the plane of the planets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1417385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n·vS, n·vE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31417385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ahead of or behind the orbital motion (SPHEREx, Earth)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1847153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n·x⊕, n·y⊕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31847153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look direction in a frame that turns with Earth (x⊕ = Sun → Earth)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2276921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sin λ⊕, cos λ⊕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2276921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Earth's position in its orbit: the time of year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33388921"/>
            <a:ext cx="7867497" cy="513831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5FB0FF"/>
                </a:solidFill>
                <a:latin typeface="Arial"/>
              </a:rPr>
              <a:t>Training and testing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423,607 simulated SPHEREx pointings from ZodiPy (140 days, 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Five small networks (4 hidden layers, 64 → 16 neurons; Flux.jl in Julia), averaged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Tested on whole months and sky regions they never saw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1">
                <a:solidFill>
                  <a:srgbClr val="EEF3F8"/>
                </a:solidFill>
                <a:latin typeface="Arial"/>
              </a:rPr>
              <a:t>Lesson: </a:t>
            </a:r>
            <a:r>
              <a:rPr sz="2500" b="0">
                <a:solidFill>
                  <a:srgbClr val="EEF3F8"/>
                </a:solidFill>
                <a:latin typeface="Arial"/>
              </a:rPr>
              <a:t>adding the time of year (sin λ⊕, cos λ⊕) cut the errors ~40–65×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1">
                <a:solidFill>
                  <a:srgbClr val="EEF3F8"/>
                </a:solidFill>
                <a:latin typeface="Arial"/>
              </a:rPr>
              <a:t>No overfitting: </a:t>
            </a:r>
            <a:r>
              <a:rPr sz="2500" b="0">
                <a:solidFill>
                  <a:srgbClr val="EEF3F8"/>
                </a:solidFill>
                <a:latin typeface="Arial"/>
              </a:rPr>
              <a:t>error on withheld data levels off and never rises (Fig. 3)</a:t>
            </a:r>
          </a:p>
        </p:txBody>
      </p:sp>
      <p:pic>
        <p:nvPicPr>
          <p:cNvPr id="38" name="Picture 37" descr="training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4817" y="33388921"/>
            <a:ext cx="6397142" cy="5117713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143000" y="38618680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3. </a:t>
            </a:r>
            <a:r>
              <a:rPr sz="2200" b="0">
                <a:solidFill>
                  <a:srgbClr val="A9B6C6"/>
                </a:solidFill>
                <a:latin typeface="Arial"/>
              </a:rPr>
              <a:t>Error during training on the training data and the withheld months: 5 networks (thin) and their average (thick). Test error ends ~2× the training error; with a random 10% withheld, the curves overlap.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824960" y="7223760"/>
            <a:ext cx="15361920" cy="2596896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236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236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0.026%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236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median error on months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withheld from training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89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189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95%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89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of pointings within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0.1% of ZodiPy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142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142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≤0.04%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142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median error for every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choice of withheld months</a:t>
            </a:r>
          </a:p>
        </p:txBody>
      </p:sp>
      <p:pic>
        <p:nvPicPr>
          <p:cNvPr id="52" name="Picture 51" descr="accuracy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929544" y="11178540"/>
            <a:ext cx="11152750" cy="557637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7236440" y="16846355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4. </a:t>
            </a:r>
            <a:r>
              <a:rPr sz="2200" b="0">
                <a:solidFill>
                  <a:srgbClr val="A9B6C6"/>
                </a:solidFill>
                <a:latin typeface="Arial"/>
              </a:rPr>
              <a:t>Network vs. ZodiPy on the two 30-day blocks never used in training (days 30–60 and 90–120; 180,166 pointings). Half of the errors are below 0.026%, 95% below 0.1%.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236440" y="17710463"/>
            <a:ext cx="14538960" cy="1481937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Robust: </a:t>
            </a:r>
            <a:r>
              <a:rPr sz="2600" b="0">
                <a:solidFill>
                  <a:srgbClr val="EEF3F8"/>
                </a:solidFill>
                <a:latin typeface="Arial"/>
              </a:rPr>
              <a:t>six versions with different withheld months all reach 0.023–0.037% (Fig. 5)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Harder: </a:t>
            </a:r>
            <a:r>
              <a:rPr sz="2600" b="0">
                <a:solidFill>
                  <a:srgbClr val="EEF3F8"/>
                </a:solidFill>
                <a:latin typeface="Arial"/>
              </a:rPr>
              <a:t>predicting past the start or end of the data (orange): fine for ~10 days, then errors grow</a:t>
            </a:r>
          </a:p>
        </p:txBody>
      </p:sp>
      <p:pic>
        <p:nvPicPr>
          <p:cNvPr id="55" name="Picture 54" descr="shifts_d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929544" y="19306700"/>
            <a:ext cx="11152750" cy="5018737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7236440" y="24416878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5. </a:t>
            </a:r>
            <a:r>
              <a:rPr sz="2200" b="0">
                <a:solidFill>
                  <a:srgbClr val="A9B6C6"/>
                </a:solidFill>
                <a:latin typeface="Arial"/>
              </a:rPr>
              <a:t>Six versions of the test, sliding the withheld months 10 days at a time. Right: median error on the red days (orange: start/end of the mission).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236440" y="25280986"/>
            <a:ext cx="14538960" cy="105399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Largest errors: </a:t>
            </a:r>
            <a:r>
              <a:rPr sz="2600" b="0">
                <a:solidFill>
                  <a:srgbClr val="EEF3F8"/>
                </a:solidFill>
                <a:latin typeface="Arial"/>
              </a:rPr>
              <a:t>along the plane of the planets, where the dust bands are (0.09%; Fig. 6)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Smallest: </a:t>
            </a:r>
            <a:r>
              <a:rPr sz="2600" b="0">
                <a:solidFill>
                  <a:srgbClr val="EEF3F8"/>
                </a:solidFill>
                <a:latin typeface="Arial"/>
              </a:rPr>
              <a:t>toward the poles (0.016%)</a:t>
            </a:r>
          </a:p>
        </p:txBody>
      </p:sp>
      <p:pic>
        <p:nvPicPr>
          <p:cNvPr id="58" name="Picture 57" descr="skyerror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929544" y="26449285"/>
            <a:ext cx="11152750" cy="5650726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7236440" y="32191452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6. </a:t>
            </a:r>
            <a:r>
              <a:rPr sz="2200" b="0">
                <a:solidFill>
                  <a:srgbClr val="A9B6C6"/>
                </a:solidFill>
                <a:latin typeface="Arial"/>
              </a:rPr>
              <a:t>Error on pointings the network never saw, across the whole sky. Each pointing is drawn 3.5° wide, about SPHEREx's view. Grey: not tested.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824960" y="33604200"/>
            <a:ext cx="15361920" cy="662940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6824960" y="33604200"/>
            <a:ext cx="15361920" cy="91440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824960" y="33604200"/>
            <a:ext cx="1536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7236440" y="34838640"/>
            <a:ext cx="14538960" cy="1024128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7465040" y="34838640"/>
            <a:ext cx="393192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66BB6A"/>
                </a:solidFill>
                <a:latin typeface="Arial"/>
              </a:rPr>
              <a:t>✓ DONE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66BB6A"/>
                </a:solidFill>
                <a:latin typeface="Arial"/>
              </a:rPr>
              <a:t>Validate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442680" y="34838640"/>
            <a:ext cx="1010412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Learn ZodiPy's simulated sky from geometry alone; test on unseen months and sky regions</a:t>
            </a:r>
          </a:p>
        </p:txBody>
      </p:sp>
      <p:sp>
        <p:nvSpPr>
          <p:cNvPr id="66" name="Down Arrow 65"/>
          <p:cNvSpPr/>
          <p:nvPr/>
        </p:nvSpPr>
        <p:spPr>
          <a:xfrm>
            <a:off x="24231600" y="35890200"/>
            <a:ext cx="548640" cy="182880"/>
          </a:xfrm>
          <a:prstGeom prst="down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17236440" y="36100512"/>
            <a:ext cx="14538960" cy="1024128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FFB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7465040" y="36100512"/>
            <a:ext cx="393192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B000"/>
                </a:solidFill>
                <a:latin typeface="Arial"/>
              </a:rPr>
              <a:t>IN PROGRESS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B000"/>
                </a:solidFill>
                <a:latin typeface="Arial"/>
              </a:rPr>
              <a:t>Refine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442680" y="36100512"/>
            <a:ext cx="1010412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Longer training; all SPHEREx wavelengths (a first 1.25–5 μm version: ~0.1% error)</a:t>
            </a:r>
          </a:p>
        </p:txBody>
      </p:sp>
      <p:sp>
        <p:nvSpPr>
          <p:cNvPr id="70" name="Down Arrow 69"/>
          <p:cNvSpPr/>
          <p:nvPr/>
        </p:nvSpPr>
        <p:spPr>
          <a:xfrm>
            <a:off x="24231600" y="37152071"/>
            <a:ext cx="548640" cy="182880"/>
          </a:xfrm>
          <a:prstGeom prst="down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17236440" y="37362383"/>
            <a:ext cx="14538960" cy="1024128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A9B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7465040" y="37362383"/>
            <a:ext cx="393192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Scale up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1442680" y="37362383"/>
            <a:ext cx="1010412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Move training to a computing cluster</a:t>
            </a:r>
          </a:p>
        </p:txBody>
      </p:sp>
      <p:sp>
        <p:nvSpPr>
          <p:cNvPr id="74" name="Down Arrow 73"/>
          <p:cNvSpPr/>
          <p:nvPr/>
        </p:nvSpPr>
        <p:spPr>
          <a:xfrm>
            <a:off x="24231600" y="38413943"/>
            <a:ext cx="548640" cy="182880"/>
          </a:xfrm>
          <a:prstGeom prst="down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17236440" y="38624255"/>
            <a:ext cx="14538960" cy="1024128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A9B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7465040" y="38624255"/>
            <a:ext cx="393192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Real data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442680" y="38624255"/>
            <a:ext cx="10104120" cy="102412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Train on real SPHEREx images and compare with the Kelsall model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236440" y="39721535"/>
            <a:ext cx="1453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100" b="0">
                <a:solidFill>
                  <a:srgbClr val="A9B6C6"/>
                </a:solidFill>
                <a:latin typeface="Arial"/>
              </a:rPr>
              <a:t>All results so far are preliminary and use simulated data.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31520" y="40599360"/>
            <a:ext cx="15361920" cy="283464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Acknowledgements</a:t>
            </a:r>
          </a:p>
        </p:txBody>
      </p:sp>
      <p:pic>
        <p:nvPicPr>
          <p:cNvPr id="82" name="Picture 81" descr="logo_ns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036040" y="41559480"/>
            <a:ext cx="1640792" cy="1645919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1143000" y="41513760"/>
            <a:ext cx="12618720" cy="18287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This research is supported by a URS grant at New Mexico State University, funded by the National Science Foundation (NSF). Thank you to Dr. Andrew Saydjari for mentorship, and to the developers of ZodiPy and Flux.jl.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6824960" y="40599360"/>
            <a:ext cx="15361920" cy="283464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23644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Kelsall, T., et al. 1998, ApJ, 508, 44 (COBE/DIRBE zodiacal-light model)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San, M., et al. 2022, JOSS, 7, 4602 (ZodiPy)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468880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Doré, O., et al. 2014, arXiv:1412.4872 (SPHEREx)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Innes, M. 2018, JOSS, 3, 602 (Flux.jl)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