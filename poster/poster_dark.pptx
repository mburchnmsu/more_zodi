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The problem statement: is 'compared with real data / fitting' the right reason the emulator is needed?</a:t>
            </a:r>
          </a:p>
          <a:p>
            <a:r>
              <a:t>- Acknowledgment: exact name of the URS grant/program.</a:t>
            </a:r>
          </a:p>
          <a:p>
            <a:r>
              <a:t>- Author line: middle initial / 'Dr.' style for the mentor.</a:t>
            </a:r>
          </a:p>
          <a:p>
            <a:r>
              <a:t>- Speed: measured on this laptop (poster/bench_zodipy.py, poster/bench_emulator.jl): ZodiPy 21.6 ms vs network 11 us per single pointing; 32 vs 7.7 us per pointing in batches of 20,000.</a:t>
            </a:r>
          </a:p>
          <a:p>
            <a:r>
              <a:t>- Accuracy: emulator v2 (9 inputs, 64-64-32-16, 5-network ensemble) on the random 10% held-out pointings (poster/data_accuracy.jl).</a:t>
            </a:r>
          </a:p>
          <a:p>
            <a:r>
              <a:t>- Multi-wavelength: round-15 'ep300' ensemble, 30-day blocks, 1.25-5.0 um (poster/data_spectra.jl).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524"/>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400" b="0">
                <a:solidFill>
                  <a:srgbClr val="FFD27A"/>
                </a:solidFill>
                <a:latin typeface="Arial"/>
              </a:rPr>
              <a:t>A fast zodiacal-light emulator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6002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600200"/>
          </a:xfrm>
          <a:prstGeom prst="rect">
            <a:avLst/>
          </a:prstGeom>
          <a:noFill/>
        </p:spPr>
        <p:txBody>
          <a:bodyPr wrap="square" anchor="ctr" lIns="45720" rIns="45720" tIns="18288" bIns="18288">
            <a:spAutoFit/>
          </a:bodyPr>
          <a:lstStyle/>
          <a:p>
            <a:pPr algn="ctr">
              <a:lnSpc>
                <a:spcPct val="100000"/>
              </a:lnSpc>
              <a:spcAft>
                <a:spcPts val="1000"/>
              </a:spcAft>
            </a:pPr>
            <a:r>
              <a:rPr sz="4000" b="1">
                <a:solidFill>
                  <a:srgbClr val="FFFFFF"/>
                </a:solidFill>
                <a:latin typeface="Arial"/>
              </a:rPr>
              <a:t>A small neural network reproduces a physics model of the Solar System's dust glow to within 0.015%, up to ~2,000× faster per pointing, and can be extended to every wavelength SPHEREx observes.</a:t>
            </a:r>
          </a:p>
        </p:txBody>
      </p:sp>
      <p:sp>
        <p:nvSpPr>
          <p:cNvPr id="10" name="Rectangle 9"/>
          <p:cNvSpPr/>
          <p:nvPr/>
        </p:nvSpPr>
        <p:spPr>
          <a:xfrm>
            <a:off x="731520" y="7498079"/>
            <a:ext cx="15361920" cy="1682496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8696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SPHEREx</a:t>
            </a:r>
            <a:r>
              <a:rPr sz="2800" b="0">
                <a:solidFill>
                  <a:srgbClr val="EEF3F8"/>
                </a:solidFill>
                <a:latin typeface="Arial"/>
              </a:rPr>
              <a:t> is a NASA space telescope, launched in March 2025, that maps the </a:t>
            </a:r>
            <a:r>
              <a:rPr sz="2800" b="1">
                <a:solidFill>
                  <a:srgbClr val="EEF3F8"/>
                </a:solidFill>
                <a:latin typeface="Arial"/>
              </a:rPr>
              <a:t>entire sky in 102 infrared colors</a:t>
            </a:r>
            <a:r>
              <a:rPr sz="2800" b="0">
                <a:solidFill>
                  <a:srgbClr val="EEF3F8"/>
                </a:solidFill>
                <a:latin typeface="Arial"/>
              </a:rPr>
              <a:t> (0.75–5 μm) every six months. Its maps will help explain how the universe began, how galaxies formed, and where water and other ingredients for life are found.</a:t>
            </a:r>
          </a:p>
        </p:txBody>
      </p:sp>
      <p:sp>
        <p:nvSpPr>
          <p:cNvPr id="14" name="TextBox 13"/>
          <p:cNvSpPr txBox="1"/>
          <p:nvPr/>
        </p:nvSpPr>
        <p:spPr>
          <a:xfrm>
            <a:off x="1143000" y="11155680"/>
            <a:ext cx="6542532" cy="60350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Zodiacal light. </a:t>
            </a:r>
            <a:r>
              <a:rPr sz="2700" b="0">
                <a:solidFill>
                  <a:srgbClr val="EEF3F8"/>
                </a:solidFill>
                <a:latin typeface="Arial"/>
              </a:rPr>
              <a:t>The Solar System is filled with a thin cloud of dust from comets and asteroids. Sunlight scattered by this dust, plus the dust's own heat glow, is the </a:t>
            </a:r>
            <a:r>
              <a:rPr sz="2700" b="1">
                <a:solidFill>
                  <a:srgbClr val="EEF3F8"/>
                </a:solidFill>
                <a:latin typeface="Arial"/>
              </a:rPr>
              <a:t>brightest thing in almost every SPHEREx image</a:t>
            </a:r>
            <a:r>
              <a:rPr sz="2700" b="0">
                <a:solidFill>
                  <a:srgbClr val="EEF3F8"/>
                </a:solidFill>
                <a:latin typeface="Arial"/>
              </a:rPr>
              <a:t> (Fig. 1). It changes with where the telescope looks and where Earth is in its orbit, so it must be modeled and removed before faint, distant galaxies can be studied.</a:t>
            </a:r>
          </a:p>
        </p:txBody>
      </p:sp>
      <p:pic>
        <p:nvPicPr>
          <p:cNvPr id="15" name="Picture 14" descr="schematic_dark.png"/>
          <p:cNvPicPr>
            <a:picLocks noChangeAspect="1"/>
          </p:cNvPicPr>
          <p:nvPr/>
        </p:nvPicPr>
        <p:blipFill>
          <a:blip r:embed="rId4"/>
          <a:stretch>
            <a:fillRect/>
          </a:stretch>
        </p:blipFill>
        <p:spPr>
          <a:xfrm>
            <a:off x="8005572" y="11155680"/>
            <a:ext cx="7676388" cy="5526999"/>
          </a:xfrm>
          <a:prstGeom prst="rect">
            <a:avLst/>
          </a:prstGeom>
        </p:spPr>
      </p:pic>
      <p:sp>
        <p:nvSpPr>
          <p:cNvPr id="16" name="TextBox 15"/>
          <p:cNvSpPr txBox="1"/>
          <p:nvPr/>
        </p:nvSpPr>
        <p:spPr>
          <a:xfrm>
            <a:off x="8005572" y="16728399"/>
            <a:ext cx="7676388" cy="8229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1. </a:t>
            </a:r>
            <a:r>
              <a:rPr sz="2200" b="0">
                <a:solidFill>
                  <a:srgbClr val="A9B6C6"/>
                </a:solidFill>
                <a:latin typeface="Arial"/>
              </a:rPr>
              <a:t>SPHEREx looks out through the Sun's dust cloud (top view, not to scale).</a:t>
            </a:r>
          </a:p>
        </p:txBody>
      </p:sp>
      <p:sp>
        <p:nvSpPr>
          <p:cNvPr id="17" name="TextBox 16"/>
          <p:cNvSpPr txBox="1"/>
          <p:nvPr/>
        </p:nvSpPr>
        <p:spPr>
          <a:xfrm>
            <a:off x="1143000" y="17642799"/>
            <a:ext cx="6542532" cy="49377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The Kelsall model. </a:t>
            </a:r>
            <a:r>
              <a:rPr sz="2700" b="0">
                <a:solidFill>
                  <a:srgbClr val="EEF3F8"/>
                </a:solidFill>
                <a:latin typeface="Arial"/>
              </a:rPr>
              <a:t>Kelsall et al. (1998) built the standard model of this dust from NASA's COBE satellite: a smooth cloud, three dust bands, a ring of dust around the Sun, and a clump that trails Earth. The software </a:t>
            </a:r>
            <a:r>
              <a:rPr sz="2700" b="1">
                <a:solidFill>
                  <a:srgbClr val="EEF3F8"/>
                </a:solidFill>
                <a:latin typeface="Arial"/>
              </a:rPr>
              <a:t>ZodiPy</a:t>
            </a:r>
            <a:r>
              <a:rPr sz="2700" b="0">
                <a:solidFill>
                  <a:srgbClr val="EEF3F8"/>
                </a:solidFill>
                <a:latin typeface="Arial"/>
              </a:rPr>
              <a:t> adds up the glow along each line of sight to predict what a telescope sees (Fig. 2).</a:t>
            </a:r>
          </a:p>
        </p:txBody>
      </p:sp>
      <p:pic>
        <p:nvPicPr>
          <p:cNvPr id="18" name="Picture 17" descr="sky_dark.png"/>
          <p:cNvPicPr>
            <a:picLocks noChangeAspect="1"/>
          </p:cNvPicPr>
          <p:nvPr/>
        </p:nvPicPr>
        <p:blipFill>
          <a:blip r:embed="rId5"/>
          <a:stretch>
            <a:fillRect/>
          </a:stretch>
        </p:blipFill>
        <p:spPr>
          <a:xfrm>
            <a:off x="8005572" y="17734239"/>
            <a:ext cx="7676388" cy="4605832"/>
          </a:xfrm>
          <a:prstGeom prst="rect">
            <a:avLst/>
          </a:prstGeom>
        </p:spPr>
      </p:pic>
      <p:sp>
        <p:nvSpPr>
          <p:cNvPr id="19" name="TextBox 18"/>
          <p:cNvSpPr txBox="1"/>
          <p:nvPr/>
        </p:nvSpPr>
        <p:spPr>
          <a:xfrm>
            <a:off x="8005572" y="22385792"/>
            <a:ext cx="7676388" cy="12801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2. </a:t>
            </a:r>
            <a:r>
              <a:rPr sz="2200" b="0">
                <a:solidFill>
                  <a:srgbClr val="A9B6C6"/>
                </a:solidFill>
                <a:latin typeface="Arial"/>
              </a:rPr>
              <a:t>The whole sky at 5 μm as seen from SPHEREx (ZodiPy). The glow is brightest toward the Sun and along the plane of the planets. Grey: too close to the Sun to observe.</a:t>
            </a:r>
          </a:p>
        </p:txBody>
      </p:sp>
      <p:sp>
        <p:nvSpPr>
          <p:cNvPr id="20" name="Rectangle 19"/>
          <p:cNvSpPr/>
          <p:nvPr/>
        </p:nvSpPr>
        <p:spPr>
          <a:xfrm>
            <a:off x="731520" y="24734520"/>
            <a:ext cx="15361920" cy="3794759"/>
          </a:xfrm>
          <a:prstGeom prst="rect">
            <a:avLst/>
          </a:prstGeom>
          <a:solidFill>
            <a:srgbClr val="2A2416"/>
          </a:solidFill>
          <a:ln w="762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25008840"/>
            <a:ext cx="14538960" cy="3337559"/>
          </a:xfrm>
          <a:prstGeom prst="rect">
            <a:avLst/>
          </a:prstGeom>
          <a:noFill/>
        </p:spPr>
        <p:txBody>
          <a:bodyPr wrap="square" anchor="t" lIns="45720" rIns="45720" tIns="18288" bIns="18288">
            <a:spAutoFit/>
          </a:bodyPr>
          <a:lstStyle/>
          <a:p>
            <a:pPr algn="l">
              <a:lnSpc>
                <a:spcPct val="112000"/>
              </a:lnSpc>
              <a:spcAft>
                <a:spcPts val="1400"/>
              </a:spcAft>
            </a:pPr>
            <a:r>
              <a:rPr sz="2900" b="1">
                <a:solidFill>
                  <a:srgbClr val="EEF3F8"/>
                </a:solidFill>
                <a:latin typeface="Arial"/>
              </a:rPr>
              <a:t>The problem: </a:t>
            </a:r>
            <a:r>
              <a:rPr sz="2900" b="0">
                <a:solidFill>
                  <a:srgbClr val="EEF3F8"/>
                </a:solidFill>
                <a:latin typeface="Arial"/>
              </a:rPr>
              <a:t>computing the model means adding up dust glow along every line of sight, for millions of SPHEREx pointings, at many wavelengths, again and again as the model is compared with real data.</a:t>
            </a:r>
          </a:p>
          <a:p>
            <a:pPr algn="l">
              <a:lnSpc>
                <a:spcPct val="112000"/>
              </a:lnSpc>
              <a:spcAft>
                <a:spcPts val="1400"/>
              </a:spcAft>
            </a:pPr>
            <a:r>
              <a:rPr sz="2900" b="1">
                <a:solidFill>
                  <a:srgbClr val="EEF3F8"/>
                </a:solidFill>
                <a:latin typeface="Arial"/>
              </a:rPr>
              <a:t>Research objective: </a:t>
            </a:r>
            <a:r>
              <a:rPr sz="2900" b="0">
                <a:solidFill>
                  <a:srgbClr val="EEF3F8"/>
                </a:solidFill>
                <a:latin typeface="Arial"/>
              </a:rPr>
              <a:t>to build and test a neural-network </a:t>
            </a:r>
            <a:r>
              <a:rPr sz="2900" b="1">
                <a:solidFill>
                  <a:srgbClr val="EEF3F8"/>
                </a:solidFill>
                <a:latin typeface="Arial"/>
              </a:rPr>
              <a:t>“emulator”</a:t>
            </a:r>
            <a:r>
              <a:rPr sz="2900" b="0">
                <a:solidFill>
                  <a:srgbClr val="EEF3F8"/>
                </a:solidFill>
                <a:latin typeface="Arial"/>
              </a:rPr>
              <a:t> that reproduces ZodiPy's zodiacal light accurately (well under 1% error) while running much faster, ready for real SPHEREx data.</a:t>
            </a:r>
          </a:p>
        </p:txBody>
      </p:sp>
      <p:sp>
        <p:nvSpPr>
          <p:cNvPr id="22" name="Rectangle 21"/>
          <p:cNvSpPr/>
          <p:nvPr/>
        </p:nvSpPr>
        <p:spPr>
          <a:xfrm>
            <a:off x="731520" y="28940760"/>
            <a:ext cx="15361920" cy="681228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28940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8940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5" name="Rounded Rectangle 24"/>
          <p:cNvSpPr/>
          <p:nvPr/>
        </p:nvSpPr>
        <p:spPr>
          <a:xfrm>
            <a:off x="114300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1. Simulate</a:t>
            </a:r>
          </a:p>
        </p:txBody>
      </p:sp>
      <p:sp>
        <p:nvSpPr>
          <p:cNvPr id="27" name="TextBox 26"/>
          <p:cNvSpPr txBox="1"/>
          <p:nvPr/>
        </p:nvSpPr>
        <p:spPr>
          <a:xfrm>
            <a:off x="128016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ZodiPy computes the zodiacal light for 423,607 SPHEREx pointings (140 days, 5 μm)</a:t>
            </a:r>
          </a:p>
        </p:txBody>
      </p:sp>
      <p:sp>
        <p:nvSpPr>
          <p:cNvPr id="28" name="Right Arrow 27"/>
          <p:cNvSpPr/>
          <p:nvPr/>
        </p:nvSpPr>
        <p:spPr>
          <a:xfrm>
            <a:off x="447370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90347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9490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2. Describe</a:t>
            </a:r>
          </a:p>
        </p:txBody>
      </p:sp>
      <p:sp>
        <p:nvSpPr>
          <p:cNvPr id="31" name="TextBox 30"/>
          <p:cNvSpPr txBox="1"/>
          <p:nvPr/>
        </p:nvSpPr>
        <p:spPr>
          <a:xfrm>
            <a:off x="504063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9 numbers per pointing: where the telescope looks relative to the Sun and Earth, plus the time of year</a:t>
            </a:r>
          </a:p>
        </p:txBody>
      </p:sp>
      <p:sp>
        <p:nvSpPr>
          <p:cNvPr id="32" name="Right Arrow 31"/>
          <p:cNvSpPr/>
          <p:nvPr/>
        </p:nvSpPr>
        <p:spPr>
          <a:xfrm>
            <a:off x="823417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66394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5538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3. Train</a:t>
            </a:r>
          </a:p>
        </p:txBody>
      </p:sp>
      <p:sp>
        <p:nvSpPr>
          <p:cNvPr id="35" name="TextBox 34"/>
          <p:cNvSpPr txBox="1"/>
          <p:nvPr/>
        </p:nvSpPr>
        <p:spPr>
          <a:xfrm>
            <a:off x="880110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A neural network (Flux.jl in Julia) learns brightness from geometry; 5 networks are averaged</a:t>
            </a:r>
          </a:p>
        </p:txBody>
      </p:sp>
      <p:sp>
        <p:nvSpPr>
          <p:cNvPr id="36" name="Right Arrow 35"/>
          <p:cNvSpPr/>
          <p:nvPr/>
        </p:nvSpPr>
        <p:spPr>
          <a:xfrm>
            <a:off x="1199464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2424409"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51584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4. Test</a:t>
            </a:r>
          </a:p>
        </p:txBody>
      </p:sp>
      <p:sp>
        <p:nvSpPr>
          <p:cNvPr id="39" name="TextBox 38"/>
          <p:cNvSpPr txBox="1"/>
          <p:nvPr/>
        </p:nvSpPr>
        <p:spPr>
          <a:xfrm>
            <a:off x="12561569"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Compare with ZodiPy on pointings the network never saw: random, unseen months, unseen sky</a:t>
            </a:r>
          </a:p>
        </p:txBody>
      </p:sp>
      <p:sp>
        <p:nvSpPr>
          <p:cNvPr id="40" name="TextBox 39"/>
          <p:cNvSpPr txBox="1"/>
          <p:nvPr/>
        </p:nvSpPr>
        <p:spPr>
          <a:xfrm>
            <a:off x="1143000" y="33878520"/>
            <a:ext cx="14538960" cy="1691640"/>
          </a:xfrm>
          <a:prstGeom prst="rect">
            <a:avLst/>
          </a:prstGeom>
          <a:noFill/>
        </p:spPr>
        <p:txBody>
          <a:bodyPr wrap="square" anchor="t" lIns="45720" rIns="45720" tIns="18288" bIns="18288">
            <a:spAutoFit/>
          </a:bodyPr>
          <a:lstStyle/>
          <a:p>
            <a:pPr algn="l">
              <a:lnSpc>
                <a:spcPct val="112000"/>
              </a:lnSpc>
              <a:spcAft>
                <a:spcPts val="800"/>
              </a:spcAft>
            </a:pPr>
            <a:r>
              <a:rPr sz="2600" b="1">
                <a:solidFill>
                  <a:srgbClr val="EEF3F8"/>
                </a:solidFill>
                <a:latin typeface="Arial"/>
              </a:rPr>
              <a:t>Give the network the right physics. </a:t>
            </a:r>
            <a:r>
              <a:rPr sz="2600" b="0">
                <a:solidFill>
                  <a:srgbClr val="EEF3F8"/>
                </a:solidFill>
                <a:latin typeface="Arial"/>
              </a:rPr>
              <a:t>Telling it where Earth is in its orbit (the “season”) cut errors about 40–65×.</a:t>
            </a:r>
          </a:p>
          <a:p>
            <a:pPr algn="l">
              <a:lnSpc>
                <a:spcPct val="112000"/>
              </a:lnSpc>
              <a:spcAft>
                <a:spcPts val="800"/>
              </a:spcAft>
            </a:pPr>
            <a:r>
              <a:rPr sz="2600" b="1">
                <a:solidFill>
                  <a:srgbClr val="EEF3F8"/>
                </a:solidFill>
                <a:latin typeface="Arial"/>
              </a:rPr>
              <a:t>Test honestly. </a:t>
            </a:r>
            <a:r>
              <a:rPr sz="2600" b="0">
                <a:solidFill>
                  <a:srgbClr val="EEF3F8"/>
                </a:solidFill>
                <a:latin typeface="Arial"/>
              </a:rPr>
              <a:t>Data were split by time, by sky region and at random, and many network sizes and training schedules were compared.</a:t>
            </a:r>
          </a:p>
        </p:txBody>
      </p:sp>
      <p:sp>
        <p:nvSpPr>
          <p:cNvPr id="41" name="Rectangle 40"/>
          <p:cNvSpPr/>
          <p:nvPr/>
        </p:nvSpPr>
        <p:spPr>
          <a:xfrm>
            <a:off x="16824960" y="7498079"/>
            <a:ext cx="15361920" cy="2825496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82496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82496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4" name="Rounded Rectangle 43"/>
          <p:cNvSpPr/>
          <p:nvPr/>
        </p:nvSpPr>
        <p:spPr>
          <a:xfrm>
            <a:off x="17236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236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0.015%</a:t>
            </a:r>
          </a:p>
        </p:txBody>
      </p:sp>
      <p:sp>
        <p:nvSpPr>
          <p:cNvPr id="46" name="TextBox 45"/>
          <p:cNvSpPr txBox="1"/>
          <p:nvPr/>
        </p:nvSpPr>
        <p:spPr>
          <a:xfrm>
            <a:off x="17236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median error on</a:t>
            </a:r>
          </a:p>
          <a:p>
            <a:pPr algn="ctr">
              <a:lnSpc>
                <a:spcPct val="100000"/>
              </a:lnSpc>
              <a:spcAft>
                <a:spcPts val="0"/>
              </a:spcAft>
            </a:pPr>
            <a:r>
              <a:rPr sz="2400" b="0">
                <a:solidFill>
                  <a:srgbClr val="EEF3F8"/>
                </a:solidFill>
                <a:latin typeface="Arial"/>
              </a:rPr>
              <a:t>unseen pointings</a:t>
            </a:r>
          </a:p>
        </p:txBody>
      </p:sp>
      <p:sp>
        <p:nvSpPr>
          <p:cNvPr id="47" name="Rounded Rectangle 46"/>
          <p:cNvSpPr/>
          <p:nvPr/>
        </p:nvSpPr>
        <p:spPr>
          <a:xfrm>
            <a:off x="22189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189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~2,000×</a:t>
            </a:r>
          </a:p>
        </p:txBody>
      </p:sp>
      <p:sp>
        <p:nvSpPr>
          <p:cNvPr id="49" name="TextBox 48"/>
          <p:cNvSpPr txBox="1"/>
          <p:nvPr/>
        </p:nvSpPr>
        <p:spPr>
          <a:xfrm>
            <a:off x="22189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faster per pointing</a:t>
            </a:r>
          </a:p>
          <a:p>
            <a:pPr algn="ctr">
              <a:lnSpc>
                <a:spcPct val="100000"/>
              </a:lnSpc>
              <a:spcAft>
                <a:spcPts val="0"/>
              </a:spcAft>
            </a:pPr>
            <a:r>
              <a:rPr sz="2400" b="0">
                <a:solidFill>
                  <a:srgbClr val="EEF3F8"/>
                </a:solidFill>
                <a:latin typeface="Arial"/>
              </a:rPr>
              <a:t>than ZodiPy</a:t>
            </a:r>
          </a:p>
        </p:txBody>
      </p:sp>
      <p:sp>
        <p:nvSpPr>
          <p:cNvPr id="50" name="Rounded Rectangle 49"/>
          <p:cNvSpPr/>
          <p:nvPr/>
        </p:nvSpPr>
        <p:spPr>
          <a:xfrm>
            <a:off x="27142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142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64</a:t>
            </a:r>
          </a:p>
        </p:txBody>
      </p:sp>
      <p:sp>
        <p:nvSpPr>
          <p:cNvPr id="52" name="TextBox 51"/>
          <p:cNvSpPr txBox="1"/>
          <p:nvPr/>
        </p:nvSpPr>
        <p:spPr>
          <a:xfrm>
            <a:off x="27142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wavelengths in</a:t>
            </a:r>
          </a:p>
          <a:p>
            <a:pPr algn="ctr">
              <a:lnSpc>
                <a:spcPct val="100000"/>
              </a:lnSpc>
              <a:spcAft>
                <a:spcPts val="0"/>
              </a:spcAft>
            </a:pPr>
            <a:r>
              <a:rPr sz="2400" b="0">
                <a:solidFill>
                  <a:srgbClr val="EEF3F8"/>
                </a:solidFill>
                <a:latin typeface="Arial"/>
              </a:rPr>
              <a:t>one network</a:t>
            </a:r>
          </a:p>
        </p:txBody>
      </p:sp>
      <p:pic>
        <p:nvPicPr>
          <p:cNvPr id="53" name="Picture 52" descr="accuracy_dark.png"/>
          <p:cNvPicPr>
            <a:picLocks noChangeAspect="1"/>
          </p:cNvPicPr>
          <p:nvPr/>
        </p:nvPicPr>
        <p:blipFill>
          <a:blip r:embed="rId6"/>
          <a:stretch>
            <a:fillRect/>
          </a:stretch>
        </p:blipFill>
        <p:spPr>
          <a:xfrm>
            <a:off x="17236440" y="11841480"/>
            <a:ext cx="14538960" cy="6906006"/>
          </a:xfrm>
          <a:prstGeom prst="rect">
            <a:avLst/>
          </a:prstGeom>
        </p:spPr>
      </p:pic>
      <p:sp>
        <p:nvSpPr>
          <p:cNvPr id="54" name="TextBox 53"/>
          <p:cNvSpPr txBox="1"/>
          <p:nvPr/>
        </p:nvSpPr>
        <p:spPr>
          <a:xfrm>
            <a:off x="17236440" y="18747485"/>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3. </a:t>
            </a:r>
            <a:r>
              <a:rPr sz="2200" b="0">
                <a:solidFill>
                  <a:srgbClr val="A9B6C6"/>
                </a:solidFill>
                <a:latin typeface="Arial"/>
              </a:rPr>
              <a:t>The neural network vs. ZodiPy on 42,361 pointings it never saw in training. Left: every point lies on the 1:1 line. Right: half of the errors are smaller than 0.015%, and 98% are under 0.1%.</a:t>
            </a:r>
          </a:p>
        </p:txBody>
      </p:sp>
      <p:pic>
        <p:nvPicPr>
          <p:cNvPr id="55" name="Picture 54" descr="speed_dark.png"/>
          <p:cNvPicPr>
            <a:picLocks noChangeAspect="1"/>
          </p:cNvPicPr>
          <p:nvPr/>
        </p:nvPicPr>
        <p:blipFill>
          <a:blip r:embed="rId7"/>
          <a:stretch>
            <a:fillRect/>
          </a:stretch>
        </p:blipFill>
        <p:spPr>
          <a:xfrm>
            <a:off x="19271894" y="19707606"/>
            <a:ext cx="10468051" cy="5192153"/>
          </a:xfrm>
          <a:prstGeom prst="rect">
            <a:avLst/>
          </a:prstGeom>
        </p:spPr>
      </p:pic>
      <p:sp>
        <p:nvSpPr>
          <p:cNvPr id="56" name="TextBox 55"/>
          <p:cNvSpPr txBox="1"/>
          <p:nvPr/>
        </p:nvSpPr>
        <p:spPr>
          <a:xfrm>
            <a:off x="17236440" y="24899759"/>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4. </a:t>
            </a:r>
            <a:r>
              <a:rPr sz="2200" b="0">
                <a:solidFill>
                  <a:srgbClr val="A9B6C6"/>
                </a:solidFill>
                <a:latin typeface="Arial"/>
              </a:rPr>
              <a:t>Time per pointing on a laptop (one CPU core, the same 20,000 pointings). One at a time, the network is ~2,000× faster; in large batches, where ZodiPy is efficient, it is ~4× faster.</a:t>
            </a:r>
          </a:p>
        </p:txBody>
      </p:sp>
      <p:sp>
        <p:nvSpPr>
          <p:cNvPr id="57" name="Rectangle 56"/>
          <p:cNvSpPr/>
          <p:nvPr/>
        </p:nvSpPr>
        <p:spPr>
          <a:xfrm>
            <a:off x="17236440" y="25905599"/>
            <a:ext cx="14538960" cy="54864"/>
          </a:xfrm>
          <a:prstGeom prst="rect">
            <a:avLst/>
          </a:prstGeom>
          <a:solidFill>
            <a:srgbClr val="2D5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236440" y="26134199"/>
            <a:ext cx="14538960" cy="164592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Looking forward: every SPHEREx wavelength. </a:t>
            </a:r>
            <a:r>
              <a:rPr sz="2800" b="0">
                <a:solidFill>
                  <a:srgbClr val="EEF3F8"/>
                </a:solidFill>
                <a:latin typeface="Arial"/>
              </a:rPr>
              <a:t>Real SPHEREx images cover many wavelengths, so wavelength becomes one more input. A first version covering 1.25–5 μm already reaches ~0.1% median error.</a:t>
            </a:r>
          </a:p>
        </p:txBody>
      </p:sp>
      <p:pic>
        <p:nvPicPr>
          <p:cNvPr id="59" name="Picture 58" descr="spectra_dark.png"/>
          <p:cNvPicPr>
            <a:picLocks noChangeAspect="1"/>
          </p:cNvPicPr>
          <p:nvPr/>
        </p:nvPicPr>
        <p:blipFill>
          <a:blip r:embed="rId8"/>
          <a:stretch>
            <a:fillRect/>
          </a:stretch>
        </p:blipFill>
        <p:spPr>
          <a:xfrm>
            <a:off x="19212029" y="27642959"/>
            <a:ext cx="10587780" cy="7058520"/>
          </a:xfrm>
          <a:prstGeom prst="rect">
            <a:avLst/>
          </a:prstGeom>
        </p:spPr>
      </p:pic>
      <p:sp>
        <p:nvSpPr>
          <p:cNvPr id="60" name="TextBox 59"/>
          <p:cNvSpPr txBox="1"/>
          <p:nvPr/>
        </p:nvSpPr>
        <p:spPr>
          <a:xfrm>
            <a:off x="17236440" y="34701480"/>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5. </a:t>
            </a:r>
            <a:r>
              <a:rPr sz="2200" b="0">
                <a:solidFill>
                  <a:srgbClr val="A9B6C6"/>
                </a:solidFill>
                <a:latin typeface="Arial"/>
              </a:rPr>
              <a:t>Brightness vs. wavelength for three pointings: ZodiPy (solid) and the network (dashed). Below 3 μm we see scattered sunlight; above, the dust's heat. Bottom: the differences stay under 1%.</a:t>
            </a:r>
          </a:p>
        </p:txBody>
      </p:sp>
      <p:sp>
        <p:nvSpPr>
          <p:cNvPr id="61" name="Rectangle 60"/>
          <p:cNvSpPr/>
          <p:nvPr/>
        </p:nvSpPr>
        <p:spPr>
          <a:xfrm>
            <a:off x="731520" y="36164520"/>
            <a:ext cx="31455360" cy="434339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1520" y="36164520"/>
            <a:ext cx="3145536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36164520"/>
            <a:ext cx="3145536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64" name="Rounded Rectangle 63"/>
          <p:cNvSpPr/>
          <p:nvPr/>
        </p:nvSpPr>
        <p:spPr>
          <a:xfrm>
            <a:off x="1143000" y="37536120"/>
            <a:ext cx="7178040" cy="2011680"/>
          </a:xfrm>
          <a:prstGeom prst="roundRect">
            <a:avLst>
              <a:gd name="adj" fmla="val 10000"/>
            </a:avLst>
          </a:prstGeom>
          <a:solidFill>
            <a:srgbClr val="16304F"/>
          </a:solidFill>
          <a:ln w="63500">
            <a:solidFill>
              <a:srgbClr val="66BB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325880"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66BB6A"/>
                </a:solidFill>
                <a:latin typeface="Arial"/>
              </a:rPr>
              <a:t>✓ DONE   </a:t>
            </a:r>
            <a:r>
              <a:rPr sz="2800" b="1">
                <a:solidFill>
                  <a:srgbClr val="66BB6A"/>
                </a:solidFill>
                <a:latin typeface="Arial"/>
              </a:rPr>
              <a:t>Validate</a:t>
            </a:r>
          </a:p>
        </p:txBody>
      </p:sp>
      <p:sp>
        <p:nvSpPr>
          <p:cNvPr id="66" name="TextBox 65"/>
          <p:cNvSpPr txBox="1"/>
          <p:nvPr/>
        </p:nvSpPr>
        <p:spPr>
          <a:xfrm>
            <a:off x="1325880"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Accuracy, speed, unseen months and sky regions, all on simulated data</a:t>
            </a:r>
          </a:p>
        </p:txBody>
      </p:sp>
      <p:sp>
        <p:nvSpPr>
          <p:cNvPr id="67" name="Right Arrow 66"/>
          <p:cNvSpPr/>
          <p:nvPr/>
        </p:nvSpPr>
        <p:spPr>
          <a:xfrm>
            <a:off x="8412480"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961119" y="37536120"/>
            <a:ext cx="7178040" cy="2011680"/>
          </a:xfrm>
          <a:prstGeom prst="roundRect">
            <a:avLst>
              <a:gd name="adj" fmla="val 10000"/>
            </a:avLst>
          </a:prstGeom>
          <a:solidFill>
            <a:srgbClr val="16304F"/>
          </a:solidFill>
          <a:ln w="635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399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FFB000"/>
                </a:solidFill>
                <a:latin typeface="Arial"/>
              </a:rPr>
              <a:t>IN PROGRESS   </a:t>
            </a:r>
            <a:r>
              <a:rPr sz="2800" b="1">
                <a:solidFill>
                  <a:srgbClr val="FFB000"/>
                </a:solidFill>
                <a:latin typeface="Arial"/>
              </a:rPr>
              <a:t>Refine</a:t>
            </a:r>
          </a:p>
        </p:txBody>
      </p:sp>
      <p:sp>
        <p:nvSpPr>
          <p:cNvPr id="70" name="TextBox 69"/>
          <p:cNvSpPr txBox="1"/>
          <p:nvPr/>
        </p:nvSpPr>
        <p:spPr>
          <a:xfrm>
            <a:off x="914399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Longer training; all SPHEREx wavelengths (0.75–5 μm)</a:t>
            </a:r>
          </a:p>
        </p:txBody>
      </p:sp>
      <p:sp>
        <p:nvSpPr>
          <p:cNvPr id="71" name="Right Arrow 70"/>
          <p:cNvSpPr/>
          <p:nvPr/>
        </p:nvSpPr>
        <p:spPr>
          <a:xfrm>
            <a:off x="16230600"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16779239" y="37536120"/>
            <a:ext cx="7178040" cy="2011680"/>
          </a:xfrm>
          <a:prstGeom prst="roundRect">
            <a:avLst>
              <a:gd name="adj" fmla="val 10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696211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A9B6C6"/>
                </a:solidFill>
                <a:latin typeface="Arial"/>
              </a:rPr>
              <a:t>NEXT   </a:t>
            </a:r>
            <a:r>
              <a:rPr sz="2800" b="1">
                <a:solidFill>
                  <a:srgbClr val="A9B6C6"/>
                </a:solidFill>
                <a:latin typeface="Arial"/>
              </a:rPr>
              <a:t>Scale up</a:t>
            </a:r>
          </a:p>
        </p:txBody>
      </p:sp>
      <p:sp>
        <p:nvSpPr>
          <p:cNvPr id="74" name="TextBox 73"/>
          <p:cNvSpPr txBox="1"/>
          <p:nvPr/>
        </p:nvSpPr>
        <p:spPr>
          <a:xfrm>
            <a:off x="1696211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Move training to a computing cluster</a:t>
            </a:r>
          </a:p>
        </p:txBody>
      </p:sp>
      <p:sp>
        <p:nvSpPr>
          <p:cNvPr id="75" name="Right Arrow 74"/>
          <p:cNvSpPr/>
          <p:nvPr/>
        </p:nvSpPr>
        <p:spPr>
          <a:xfrm>
            <a:off x="24048719"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597360" y="37536120"/>
            <a:ext cx="7178040" cy="2011680"/>
          </a:xfrm>
          <a:prstGeom prst="roundRect">
            <a:avLst>
              <a:gd name="adj" fmla="val 10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478023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A9B6C6"/>
                </a:solidFill>
                <a:latin typeface="Arial"/>
              </a:rPr>
              <a:t>NEXT   </a:t>
            </a:r>
            <a:r>
              <a:rPr sz="2800" b="1">
                <a:solidFill>
                  <a:srgbClr val="A9B6C6"/>
                </a:solidFill>
                <a:latin typeface="Arial"/>
              </a:rPr>
              <a:t>Real data</a:t>
            </a:r>
          </a:p>
        </p:txBody>
      </p:sp>
      <p:sp>
        <p:nvSpPr>
          <p:cNvPr id="78" name="TextBox 77"/>
          <p:cNvSpPr txBox="1"/>
          <p:nvPr/>
        </p:nvSpPr>
        <p:spPr>
          <a:xfrm>
            <a:off x="2478023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Apply the emulator to real SPHEREx images</a:t>
            </a:r>
          </a:p>
        </p:txBody>
      </p:sp>
      <p:sp>
        <p:nvSpPr>
          <p:cNvPr id="79" name="TextBox 78"/>
          <p:cNvSpPr txBox="1"/>
          <p:nvPr/>
        </p:nvSpPr>
        <p:spPr>
          <a:xfrm>
            <a:off x="1143000" y="39684960"/>
            <a:ext cx="3063240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A9B6C6"/>
                </a:solidFill>
                <a:latin typeface="Arial"/>
              </a:rPr>
              <a:t>All results so far are preliminary and use simulated data. Next, the model is fully validated and then applied to real SPHEREx data.</a:t>
            </a:r>
          </a:p>
        </p:txBody>
      </p:sp>
      <p:sp>
        <p:nvSpPr>
          <p:cNvPr id="80" name="Rectangle 79"/>
          <p:cNvSpPr/>
          <p:nvPr/>
        </p:nvSpPr>
        <p:spPr>
          <a:xfrm>
            <a:off x="731520" y="40873679"/>
            <a:ext cx="15361920" cy="2560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3152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2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sp>
        <p:nvSpPr>
          <p:cNvPr id="83" name="TextBox 82"/>
          <p:cNvSpPr txBox="1"/>
          <p:nvPr/>
        </p:nvSpPr>
        <p:spPr>
          <a:xfrm>
            <a:off x="1143000" y="41788079"/>
            <a:ext cx="14538960" cy="1463040"/>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EEF3F8"/>
                </a:solidFill>
                <a:latin typeface="Arial"/>
              </a:rPr>
              <a:t>This research is supported by a URS grant at New Mexico State University. Thank you to Dr. Andrew Saydjari for mentorship, and to the developers of ZodiPy and Flux.jl.</a:t>
            </a:r>
          </a:p>
        </p:txBody>
      </p:sp>
      <p:sp>
        <p:nvSpPr>
          <p:cNvPr id="84" name="Rectangle 83"/>
          <p:cNvSpPr/>
          <p:nvPr/>
        </p:nvSpPr>
        <p:spPr>
          <a:xfrm>
            <a:off x="16824960" y="40873679"/>
            <a:ext cx="15361920" cy="2560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682496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82496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7" name="TextBox 86"/>
          <p:cNvSpPr txBox="1"/>
          <p:nvPr/>
        </p:nvSpPr>
        <p:spPr>
          <a:xfrm>
            <a:off x="17236440" y="41742360"/>
            <a:ext cx="14538960" cy="1645920"/>
          </a:xfrm>
          <a:prstGeom prst="rect">
            <a:avLst/>
          </a:prstGeom>
          <a:noFill/>
        </p:spPr>
        <p:txBody>
          <a:bodyPr wrap="square" anchor="t" lIns="45720" rIns="45720" tIns="18288" bIns="18288">
            <a:spAutoFit/>
          </a:bodyPr>
          <a:lstStyle/>
          <a:p>
            <a:pPr algn="l">
              <a:lnSpc>
                <a:spcPct val="100000"/>
              </a:lnSpc>
              <a:spcAft>
                <a:spcPts val="0"/>
              </a:spcAft>
            </a:pPr>
            <a:r>
              <a:rPr sz="1900" b="0">
                <a:solidFill>
                  <a:srgbClr val="EEF3F8"/>
                </a:solidFill>
                <a:latin typeface="Arial"/>
              </a:rPr>
              <a:t>Kelsall, T., et al. 1998, ApJ, 508, 44 (COBE/DIRBE zodiacal-light model)</a:t>
            </a:r>
          </a:p>
          <a:p>
            <a:pPr algn="l">
              <a:lnSpc>
                <a:spcPct val="100000"/>
              </a:lnSpc>
              <a:spcAft>
                <a:spcPts val="0"/>
              </a:spcAft>
            </a:pPr>
            <a:r>
              <a:rPr sz="1900" b="0">
                <a:solidFill>
                  <a:srgbClr val="EEF3F8"/>
                </a:solidFill>
                <a:latin typeface="Arial"/>
              </a:rPr>
              <a:t>San, M., et al. 2022, JOSS, 7, 4602 (ZodiPy)</a:t>
            </a:r>
          </a:p>
          <a:p>
            <a:pPr algn="l">
              <a:lnSpc>
                <a:spcPct val="100000"/>
              </a:lnSpc>
              <a:spcAft>
                <a:spcPts val="0"/>
              </a:spcAft>
            </a:pPr>
            <a:r>
              <a:rPr sz="1900" b="0">
                <a:solidFill>
                  <a:srgbClr val="EEF3F8"/>
                </a:solidFill>
                <a:latin typeface="Arial"/>
              </a:rPr>
              <a:t>Doré, O., et al. 2014, arXiv:1412.4872 (SPHEREx)</a:t>
            </a:r>
          </a:p>
          <a:p>
            <a:pPr algn="l">
              <a:lnSpc>
                <a:spcPct val="100000"/>
              </a:lnSpc>
              <a:spcAft>
                <a:spcPts val="0"/>
              </a:spcAft>
            </a:pPr>
            <a:r>
              <a:rPr sz="1900" b="0">
                <a:solidFill>
                  <a:srgbClr val="EEF3F8"/>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