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5382097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1909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SPHEREx: </a:t>
            </a:r>
            <a:r>
              <a:rPr sz="2600" b="0">
                <a:solidFill>
                  <a:srgbClr val="EEF3F8"/>
                </a:solidFill>
                <a:latin typeface="Arial"/>
              </a:rPr>
              <a:t>NASA space telescope (launched March 2025) mapping the </a:t>
            </a:r>
            <a:r>
              <a:rPr sz="2600" b="1">
                <a:solidFill>
                  <a:srgbClr val="EEF3F8"/>
                </a:solidFill>
                <a:latin typeface="Arial"/>
              </a:rPr>
              <a:t>entire sky in infrared</a:t>
            </a:r>
            <a:r>
              <a:rPr sz="2600" b="0">
                <a:solidFill>
                  <a:srgbClr val="EEF3F8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Science: </a:t>
            </a:r>
            <a:r>
              <a:rPr sz="2600" b="0">
                <a:solidFill>
                  <a:srgbClr val="EEF3F8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596676"/>
            <a:ext cx="7705648" cy="46713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5FB0FF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Bright enough to be confused with faint light from distant galaxies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Changes with look direction and Earth's place in orbit → </a:t>
            </a:r>
            <a:r>
              <a:rPr sz="2400" b="1">
                <a:solidFill>
                  <a:srgbClr val="EEF3F8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5FB0FF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Standard dust model from NASA's COBE (Fig. 2); </a:t>
            </a:r>
            <a:r>
              <a:rPr sz="2400" b="1">
                <a:solidFill>
                  <a:srgbClr val="EEF3F8"/>
                </a:solidFill>
                <a:latin typeface="Arial"/>
              </a:rPr>
              <a:t>ZodiPy</a:t>
            </a:r>
            <a:r>
              <a:rPr sz="2400" b="0">
                <a:solidFill>
                  <a:srgbClr val="EEF3F8"/>
                </a:solidFill>
                <a:latin typeface="Arial"/>
              </a:rPr>
              <a:t> computes what SPHEREx would see from it</a:t>
            </a:r>
          </a:p>
        </p:txBody>
      </p:sp>
      <p:pic>
        <p:nvPicPr>
          <p:cNvPr id="15" name="Picture 14" descr="sky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968" y="10870996"/>
            <a:ext cx="6558991" cy="393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2968" y="14897831"/>
            <a:ext cx="6558991" cy="1453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1. </a:t>
            </a:r>
            <a:r>
              <a:rPr sz="2200" b="0">
                <a:solidFill>
                  <a:srgbClr val="A9B6C6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pic>
        <p:nvPicPr>
          <p:cNvPr id="17" name="Picture 16" descr="components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0727" y="16488887"/>
            <a:ext cx="12503505" cy="50014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2158172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2. </a:t>
            </a:r>
            <a:r>
              <a:rPr sz="2200" b="0">
                <a:solidFill>
                  <a:srgbClr val="A9B6C6"/>
                </a:solidFill>
                <a:latin typeface="Arial"/>
              </a:rPr>
              <a:t>What makes up the zodiacal light SPHEREx sees (Kelsall model): a smooth cloud (88–95%) plus dust bands, a ring around the Sun, and a cloud trailing Earth, strongest when looking behind Earth.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3017337"/>
            <a:ext cx="15361920" cy="2963716"/>
          </a:xfrm>
          <a:prstGeom prst="rect">
            <a:avLst/>
          </a:prstGeom>
          <a:solidFill>
            <a:srgbClr val="2A2416"/>
          </a:solidFill>
          <a:ln w="762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23218505"/>
            <a:ext cx="7040880" cy="195315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Zodiacal light must be removed from every SPHEREx image, but models like Kelsall's were fit to older data and leave errors behind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3218505"/>
            <a:ext cx="7040880" cy="23646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A </a:t>
            </a:r>
            <a:r>
              <a:rPr sz="2500" b="1">
                <a:solidFill>
                  <a:srgbClr val="EEF3F8"/>
                </a:solidFill>
                <a:latin typeface="Arial"/>
              </a:rPr>
              <a:t>geometrically constrained</a:t>
            </a:r>
            <a:r>
              <a:rPr sz="2500" b="0">
                <a:solidFill>
                  <a:srgbClr val="EEF3F8"/>
                </a:solidFill>
                <a:latin typeface="Arial"/>
              </a:rPr>
              <a:t> neural network that learns zodiacal light from SPHEREx data and </a:t>
            </a:r>
            <a:r>
              <a:rPr sz="2500" b="1">
                <a:solidFill>
                  <a:srgbClr val="EEF3F8"/>
                </a:solidFill>
                <a:latin typeface="Arial"/>
              </a:rPr>
              <a:t>outperforms the Kelsall model</a:t>
            </a:r>
            <a:r>
              <a:rPr sz="2500" b="0">
                <a:solidFill>
                  <a:srgbClr val="EEF3F8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392534"/>
            <a:ext cx="15361920" cy="13841065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8838321"/>
            <a:ext cx="6000695" cy="367527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No dates or sky-map positions: only </a:t>
            </a:r>
            <a:r>
              <a:rPr sz="2500" b="1">
                <a:solidFill>
                  <a:srgbClr val="EEF3F8"/>
                </a:solidFill>
                <a:latin typeface="Arial"/>
              </a:rPr>
              <a:t>9 numbers describing the viewing geometry</a:t>
            </a:r>
            <a:r>
              <a:rPr sz="2500" b="0">
                <a:solidFill>
                  <a:srgbClr val="EEF3F8"/>
                </a:solidFill>
                <a:latin typeface="Arial"/>
              </a:rPr>
              <a:t> (Fig. 3)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6" name="Picture 25" descr="geometry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8015" y="27866219"/>
            <a:ext cx="8263944" cy="561948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33577141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3. </a:t>
            </a:r>
            <a:r>
              <a:rPr sz="2200" b="0">
                <a:solidFill>
                  <a:srgbClr val="A9B6C6"/>
                </a:solidFill>
                <a:latin typeface="Arial"/>
              </a:rPr>
              <a:t>The geometry the network sees (top view, not to scale): n = where SPHEREx looks; S, E = Sun → SPHEREx, Earth; v = orbital motion; λ⊕ = Earth's angle around its orbit. Jupiter and the Moon: context only.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4611914"/>
            <a:ext cx="1453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The 9 inputs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160554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n·S, n·E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5160554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5590322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5590322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602009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n·vS, n·vE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602009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44985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n·x⊕, n·y⊕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644985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look direction in a frame that turns with Earth (x⊕ = Sun → Earth)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36879626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sin λ⊕, cos λ⊕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36879626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37594359"/>
            <a:ext cx="14538960" cy="217139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0">
                <a:solidFill>
                  <a:srgbClr val="EEF3F8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0">
                <a:solidFill>
                  <a:srgbClr val="EEF3F8"/>
                </a:solidFill>
                <a:latin typeface="Arial"/>
              </a:rPr>
              <a:t>Tested on whole months and sky regions they never saw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Lesson: </a:t>
            </a:r>
            <a:r>
              <a:rPr sz="2600" b="0">
                <a:solidFill>
                  <a:srgbClr val="EEF3F8"/>
                </a:solidFill>
                <a:latin typeface="Arial"/>
              </a:rPr>
              <a:t>adding the time of year (sin λ⊕, cos λ⊕) cut the errors ~40–65×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651760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17904" y="11178540"/>
            <a:ext cx="9576031" cy="478801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6057995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4. </a:t>
            </a:r>
            <a:r>
              <a:rPr sz="2200" b="0">
                <a:solidFill>
                  <a:srgbClr val="A9B6C6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training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96705" y="16922103"/>
            <a:ext cx="8618428" cy="356228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0575827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5. </a:t>
            </a:r>
            <a:r>
              <a:rPr sz="2200" b="0">
                <a:solidFill>
                  <a:srgbClr val="A9B6C6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pic>
        <p:nvPicPr>
          <p:cNvPr id="56" name="Picture 55" descr="shifts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717904" y="21439935"/>
            <a:ext cx="9576031" cy="430921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7236440" y="2584058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6. </a:t>
            </a:r>
            <a:r>
              <a:rPr sz="2200" b="0">
                <a:solidFill>
                  <a:srgbClr val="A9B6C6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236440" y="26704697"/>
            <a:ext cx="14538960" cy="977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Largest errors </a:t>
            </a:r>
            <a:r>
              <a:rPr sz="2600" b="0">
                <a:solidFill>
                  <a:srgbClr val="EEF3F8"/>
                </a:solidFill>
                <a:latin typeface="Arial"/>
              </a:rPr>
              <a:t>along the plane of the planets, where the dust bands are (0.08%); </a:t>
            </a:r>
            <a:r>
              <a:rPr sz="2600" b="1">
                <a:solidFill>
                  <a:srgbClr val="EEF3F8"/>
                </a:solidFill>
                <a:latin typeface="Arial"/>
              </a:rPr>
              <a:t>smallest </a:t>
            </a:r>
            <a:r>
              <a:rPr sz="2600" b="0">
                <a:solidFill>
                  <a:srgbClr val="EEF3F8"/>
                </a:solidFill>
                <a:latin typeface="Arial"/>
              </a:rPr>
              <a:t>toward the poles (0.013%; Fig. 7)</a:t>
            </a:r>
          </a:p>
        </p:txBody>
      </p:sp>
      <p:pic>
        <p:nvPicPr>
          <p:cNvPr id="59" name="Picture 58" descr="skyerror_d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717904" y="27796796"/>
            <a:ext cx="9576031" cy="485185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236440" y="32740092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7. </a:t>
            </a:r>
            <a:r>
              <a:rPr sz="2200" b="0">
                <a:solidFill>
                  <a:srgbClr val="A9B6C6"/>
                </a:solidFill>
                <a:latin typeface="Arial"/>
              </a:rPr>
              <a:t>Error on pointings the network never saw, across the whole sky. Each pointing is drawn 3.5° wide, about SPHEREx's view. Grey: not tested.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824960" y="34152840"/>
            <a:ext cx="15361920" cy="6080759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236440" y="35387280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465040" y="35387280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6BB6A"/>
                </a:solidFill>
                <a:latin typeface="Arial"/>
              </a:rPr>
              <a:t>✓ 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6BB6A"/>
                </a:solidFill>
                <a:latin typeface="Arial"/>
              </a:rPr>
              <a:t>Validate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42680" y="35387280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Learn ZodiPy's simulated sky from geometry alone; test on unseen months and sky regions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24231600" y="36329112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7236440" y="36521136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465040" y="36521136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B000"/>
                </a:solidFill>
                <a:latin typeface="Arial"/>
              </a:rPr>
              <a:t>IN PROGRESS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B000"/>
                </a:solidFill>
                <a:latin typeface="Arial"/>
              </a:rPr>
              <a:t>Refine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42680" y="36521136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Longer training; all SPHEREx wavelengths (a first 1.25–5 μm version: ~0.1% error)</a:t>
            </a:r>
          </a:p>
        </p:txBody>
      </p:sp>
      <p:sp>
        <p:nvSpPr>
          <p:cNvPr id="71" name="Down Arrow 70"/>
          <p:cNvSpPr/>
          <p:nvPr/>
        </p:nvSpPr>
        <p:spPr>
          <a:xfrm>
            <a:off x="24231600" y="37462968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7236440" y="37654992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465040" y="37654992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Scale 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42680" y="37654992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24231600" y="38596824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7236440" y="38788848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465040" y="38788848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Real data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42680" y="38788848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Train on real SPHEREx images and compare with the Kelsall model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36440" y="39776400"/>
            <a:ext cx="1453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00" b="0">
                <a:solidFill>
                  <a:srgbClr val="A9B6C6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83" name="Picture 82" descr="logo_ns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