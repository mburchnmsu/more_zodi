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[CHECK with mentor]</a:t>
            </a:r>
          </a:p>
          <a:p>
            <a:r>
              <a:t>- Problem statement: 'physics models such as Kelsall's were fit to older data and leave errors behind' -- right framing?</a:t>
            </a:r>
          </a:p>
          <a:p>
            <a:r>
              <a:t>- Acknowledgment: exact name of the URS grant/program and the NSF award number (if one should be listed).</a:t>
            </a:r>
          </a:p>
          <a:p>
            <a:r>
              <a:t>- Fig. 3: Jupiter and the Moon are drawn for context; the poster's model inputs are n.S n.z n.E n.vS n.vE n.x_E n.y_E sin/cos(lambda_E) (no Jupiter, no Moon).</a:t>
            </a:r>
          </a:p>
          <a:p>
            <a:r>
              <a:t>Numbers (poster v6): 5-network ensemble, 64-64-32-16 gelu (4 hidden layers), 750 epochs (round 21, z115_m750_shift*).</a:t>
            </a:r>
          </a:p>
          <a:p>
            <a:r>
              <a:t>- Fig. 2 (poster/data_components.jl): ZodiPy components per pointing as % of the total. Smooth cloud 90.1% (|b|&lt;5) to</a:t>
            </a:r>
          </a:p>
          <a:p>
            <a:r>
              <a:t>  94.8% (&gt;60 deg); behind Earth (n.vE&lt;-0.5, |b|&lt;15) the trailing cloud is 7.0% vs 1.1% ahead.</a:t>
            </a:r>
          </a:p>
          <a:p>
            <a:r>
              <a:t>- Fig. 4 (poster/data_accuracy.jl): trained on days 0-30, 60-90, 120-140; tested on days 30-60, 90-120 (180,166 pointings,</a:t>
            </a:r>
          </a:p>
          <a:p>
            <a:r>
              <a:t>  43%): median 0.018%, p95 0.069%, 97.5% within 0.1%. (100 epochs: 0.026%, 0.10%, 94.8%.)</a:t>
            </a:r>
          </a:p>
          <a:p>
            <a:r>
              <a:t>  Errors are relative to ZodiPy (the Kelsall model), not the real sky.</a:t>
            </a:r>
          </a:p>
          <a:p>
            <a:r>
              <a:t>- Fig. 5 (poster/data_training.jl): epoch-averaged MSE (mean of 10 in-epoch evaluations) on the training data and the</a:t>
            </a:r>
          </a:p>
          <a:p>
            <a:r>
              <a:t>  withheld months; final mean train/test MSE 2.5e-8 / 1.2e-7 (MJy/sr)^2.</a:t>
            </a:r>
          </a:p>
          <a:p>
            <a:r>
              <a:t>- Fig. 6: the 30-day split slid by 0, 10, ..., 50 days, 5 seeds each, 750 epochs. Red = withheld windows with training</a:t>
            </a:r>
          </a:p>
          <a:p>
            <a:r>
              <a:t>  data before and after (interpolation): 0.015-0.030%. Orange = windows at the mission's start/end (extrapolation in</a:t>
            </a:r>
          </a:p>
          <a:p>
            <a:r>
              <a:t>  time): 10 days 0.016-0.023%, 20-30 days 0.07-0.09% median.</a:t>
            </a:r>
          </a:p>
          <a:p>
            <a:r>
              <a:t>- Fig. 7 (poster/data_skyerror.jl): red (interior) windows only, 364,797 pointings (86%), each averaged over the versions</a:t>
            </a:r>
          </a:p>
          <a:p>
            <a:r>
              <a:t>  that withheld it: median 0.016%, p95 0.063%; within 2 deg of the ecliptic 0.083%, above 60 deg 0.0125%. Map: each</a:t>
            </a:r>
          </a:p>
          <a:p>
            <a:r>
              <a:t>  boresight spread over a disc on a 1-deg grid (radius 1.75 deg = 3.5-deg patches, or 3.5 deg = the 7-deg blend);</a:t>
            </a:r>
          </a:p>
          <a:p>
            <a:r>
              <a:t>  boresights lie on scan circles a few degrees apart, so without spreading thin pole-to-pole gaps appear.</a:t>
            </a:r>
          </a:p>
          <a:p>
            <a:r>
              <a:t>- Earth-trailing cloud (mentor's test, 10182026 notebook): stacking residuals along the ahead/behind-Earth angle and the</a:t>
            </a:r>
          </a:p>
          <a:p>
            <a:r>
              <a:t>  angle to the cloud's centre shows no leftover cloud signal; fitted missing fraction 0.06 +/- 0.09% (|b|&lt;15, 750 ep).</a:t>
            </a:r>
          </a:p>
          <a:p>
            <a:r>
              <a:t>- Multi-wavelength (Refine step): round-15 'ep300' ensemble, 30-day blocks, 1.25-5.0 um, ~0.1% median (poster/data_spectra.jl).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51206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657600" cy="41148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0" y="457200"/>
            <a:ext cx="421326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82880"/>
            <a:ext cx="21945600" cy="2377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Arial"/>
              </a:rPr>
              <a:t>Teaching a Neural Network the Glow of the 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60320"/>
            <a:ext cx="219456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0">
                <a:solidFill>
                  <a:srgbClr val="FFD27A"/>
                </a:solidFill>
                <a:latin typeface="Arial"/>
              </a:rPr>
              <a:t>A geometrically constrained model of zodiacal light for NASA's SPHEREx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337560"/>
            <a:ext cx="21945600" cy="1600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Mark Burch and Andrew Saydjari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Astronomy Department, New Mexico State University, Las Cruces, NM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31455360" cy="1371600"/>
          </a:xfrm>
          <a:prstGeom prst="roundRect">
            <a:avLst>
              <a:gd name="adj" fmla="val 25000"/>
            </a:avLst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486400"/>
            <a:ext cx="30358079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 geometrically constrained neural network learns the zodiacal light from viewing geometry alone, reaching ~0.02% median error on months it never saw.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7223760"/>
            <a:ext cx="15361920" cy="15382097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595360"/>
            <a:ext cx="14538960" cy="19098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SPHEREx: </a:t>
            </a:r>
            <a:r>
              <a:rPr sz="2600" b="0">
                <a:solidFill>
                  <a:srgbClr val="EEF3F8"/>
                </a:solidFill>
                <a:latin typeface="Arial"/>
              </a:rPr>
              <a:t>NASA space telescope (launched March 2025) mapping the </a:t>
            </a:r>
            <a:r>
              <a:rPr sz="2600" b="1">
                <a:solidFill>
                  <a:srgbClr val="EEF3F8"/>
                </a:solidFill>
                <a:latin typeface="Arial"/>
              </a:rPr>
              <a:t>entire sky in infrared</a:t>
            </a:r>
            <a:r>
              <a:rPr sz="2600" b="0">
                <a:solidFill>
                  <a:srgbClr val="EEF3F8"/>
                </a:solidFill>
                <a:latin typeface="Arial"/>
              </a:rPr>
              <a:t> (0.75–5 μm)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Science: </a:t>
            </a:r>
            <a:r>
              <a:rPr sz="2600" b="0">
                <a:solidFill>
                  <a:srgbClr val="EEF3F8"/>
                </a:solidFill>
                <a:latin typeface="Arial"/>
              </a:rPr>
              <a:t>how the universe began, how galaxies formed, where water and other ingredients for life are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0596676"/>
            <a:ext cx="7705648" cy="46713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FB0FF"/>
                </a:solidFill>
                <a:latin typeface="Arial"/>
              </a:rPr>
              <a:t>Zodiacal light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Sunlight scattered by dust from comets and asteroids, plus the dust's heat glow (Fig. 1)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Bright enough to be confused with faint light from distant galaxies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Changes with look direction and Earth's place in orbit → </a:t>
            </a:r>
            <a:r>
              <a:rPr sz="2400" b="1">
                <a:solidFill>
                  <a:srgbClr val="EEF3F8"/>
                </a:solidFill>
                <a:latin typeface="Arial"/>
              </a:rPr>
              <a:t>must be modeled and removed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5FB0FF"/>
                </a:solidFill>
                <a:latin typeface="Arial"/>
              </a:rPr>
              <a:t>The Kelsall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Standard dust model from NASA's COBE (Fig. 2); </a:t>
            </a:r>
            <a:r>
              <a:rPr sz="2400" b="1">
                <a:solidFill>
                  <a:srgbClr val="EEF3F8"/>
                </a:solidFill>
                <a:latin typeface="Arial"/>
              </a:rPr>
              <a:t>ZodiPy</a:t>
            </a:r>
            <a:r>
              <a:rPr sz="2400" b="0">
                <a:solidFill>
                  <a:srgbClr val="EEF3F8"/>
                </a:solidFill>
                <a:latin typeface="Arial"/>
              </a:rPr>
              <a:t> computes what SPHEREx would see from it</a:t>
            </a:r>
          </a:p>
        </p:txBody>
      </p:sp>
      <p:pic>
        <p:nvPicPr>
          <p:cNvPr id="15" name="Picture 14" descr="sky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968" y="10870996"/>
            <a:ext cx="6558991" cy="39353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2968" y="14897831"/>
            <a:ext cx="6558991" cy="1453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1. </a:t>
            </a:r>
            <a:r>
              <a:rPr sz="2200" b="0">
                <a:solidFill>
                  <a:srgbClr val="A9B6C6"/>
                </a:solidFill>
                <a:latin typeface="Arial"/>
              </a:rPr>
              <a:t>The whole sky at 5 μm from SPHEREx (ZodiPy): brightest toward the Sun and along the plane of the planets. Grey: too close to the Sun to observe.</a:t>
            </a:r>
          </a:p>
        </p:txBody>
      </p:sp>
      <p:pic>
        <p:nvPicPr>
          <p:cNvPr id="17" name="Picture 16" descr="component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727" y="16488887"/>
            <a:ext cx="12503505" cy="50014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2158172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2. </a:t>
            </a:r>
            <a:r>
              <a:rPr sz="2200" b="0">
                <a:solidFill>
                  <a:srgbClr val="A9B6C6"/>
                </a:solidFill>
                <a:latin typeface="Arial"/>
              </a:rPr>
              <a:t>What makes up the zodiacal light SPHEREx sees (Kelsall model): a smooth cloud (88–95%) plus dust bands, a ring around the Sun, and a cloud trailing Earth, strongest when looking behind Earth.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017337"/>
            <a:ext cx="15361920" cy="2963716"/>
          </a:xfrm>
          <a:prstGeom prst="rect">
            <a:avLst/>
          </a:prstGeom>
          <a:solidFill>
            <a:srgbClr val="2A2416"/>
          </a:solidFill>
          <a:ln w="762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3218505"/>
            <a:ext cx="7040880" cy="195315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5FB0FF"/>
                </a:solidFill>
                <a:latin typeface="Arial"/>
              </a:rPr>
              <a:t>The problem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Zodiacal light must be removed from every SPHEREx image, but models like Kelsall's were fit to older data and leave errors behind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3218505"/>
            <a:ext cx="7040880" cy="23646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5FB0FF"/>
                </a:solidFill>
                <a:latin typeface="Arial"/>
              </a:rPr>
              <a:t>Research objective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A </a:t>
            </a:r>
            <a:r>
              <a:rPr sz="2500" b="1">
                <a:solidFill>
                  <a:srgbClr val="EEF3F8"/>
                </a:solidFill>
                <a:latin typeface="Arial"/>
              </a:rPr>
              <a:t>geometrically constrained</a:t>
            </a:r>
            <a:r>
              <a:rPr sz="2500" b="0">
                <a:solidFill>
                  <a:srgbClr val="EEF3F8"/>
                </a:solidFill>
                <a:latin typeface="Arial"/>
              </a:rPr>
              <a:t> neural network that learns zodiacal light from SPHEREx data and </a:t>
            </a:r>
            <a:r>
              <a:rPr sz="2500" b="1">
                <a:solidFill>
                  <a:srgbClr val="EEF3F8"/>
                </a:solidFill>
                <a:latin typeface="Arial"/>
              </a:rPr>
              <a:t>outperforms the Kelsall model</a:t>
            </a:r>
            <a:r>
              <a:rPr sz="2500" b="0">
                <a:solidFill>
                  <a:srgbClr val="EEF3F8"/>
                </a:solidFill>
                <a:latin typeface="Arial"/>
              </a:rPr>
              <a:t>. First step: ZodiPy's simulated sky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392534"/>
            <a:ext cx="15361920" cy="13841065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8838321"/>
            <a:ext cx="6000695" cy="367527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5FB0FF"/>
                </a:solidFill>
                <a:latin typeface="Arial"/>
              </a:rPr>
              <a:t>A geometrically constrained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No dates or sky-map positions: only </a:t>
            </a:r>
            <a:r>
              <a:rPr sz="2500" b="1">
                <a:solidFill>
                  <a:srgbClr val="EEF3F8"/>
                </a:solidFill>
                <a:latin typeface="Arial"/>
              </a:rPr>
              <a:t>9 numbers describing the viewing geometry</a:t>
            </a:r>
            <a:r>
              <a:rPr sz="2500" b="0">
                <a:solidFill>
                  <a:srgbClr val="EEF3F8"/>
                </a:solidFill>
                <a:latin typeface="Arial"/>
              </a:rPr>
              <a:t> (Fig. 3)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It must learn how brightness depends on geometry, as the physics does, not memorize when and where SPHEREx looked</a:t>
            </a:r>
          </a:p>
        </p:txBody>
      </p:sp>
      <p:pic>
        <p:nvPicPr>
          <p:cNvPr id="26" name="Picture 25" descr="geometry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015" y="27866219"/>
            <a:ext cx="8263944" cy="56194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33577141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3. </a:t>
            </a:r>
            <a:r>
              <a:rPr sz="2200" b="0">
                <a:solidFill>
                  <a:srgbClr val="A9B6C6"/>
                </a:solidFill>
                <a:latin typeface="Arial"/>
              </a:rPr>
              <a:t>The geometry the network sees (top view, not to scale): n = where SPHEREx looks; S, E = Sun → SPHEREx, Earth; v = orbital motion; λ⊕ = Earth's angle around its orbit. Jupiter and the Moon: context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611914"/>
            <a:ext cx="1453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5FB0FF"/>
                </a:solidFill>
                <a:latin typeface="Arial"/>
              </a:rPr>
              <a:t>The 9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516055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n·S, n·E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5160554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toward or away from the Sun (seen from SPHEREx and from Earth)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59032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559032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how far above or below the plane of the planets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02009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n·vS, n·vE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602009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ahead of or behind the orbital motion (SPHEREx, Earth)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44985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n·x⊕, n·y⊕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44985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look direction in a frame that turns with Earth (x⊕ = Sun → Earth)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6879626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sin λ⊕, cos λ⊕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879626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Earth's position in its orbit: the time of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7594359"/>
            <a:ext cx="14538960" cy="21713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5FB0FF"/>
                </a:solidFill>
                <a:latin typeface="Arial"/>
              </a:rPr>
              <a:t>Training and testing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0">
                <a:solidFill>
                  <a:srgbClr val="EEF3F8"/>
                </a:solidFill>
                <a:latin typeface="Arial"/>
              </a:rPr>
              <a:t>423,607 simulated pointings (140 days, 5 μm); five small networks (Flux.jl), averaged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0">
                <a:solidFill>
                  <a:srgbClr val="EEF3F8"/>
                </a:solidFill>
                <a:latin typeface="Arial"/>
              </a:rPr>
              <a:t>Tested on whole months and sky regions they never saw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Lesson: </a:t>
            </a:r>
            <a:r>
              <a:rPr sz="2600" b="0">
                <a:solidFill>
                  <a:srgbClr val="EEF3F8"/>
                </a:solidFill>
                <a:latin typeface="Arial"/>
              </a:rPr>
              <a:t>adding the time of year (sin λ⊕, cos λ⊕) cut the errors ~40–65×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824960" y="7223760"/>
            <a:ext cx="15361920" cy="26517600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36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236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5FB0FF"/>
                </a:solidFill>
                <a:latin typeface="Arial"/>
              </a:rPr>
              <a:t>0.018%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36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median error on months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withheld from 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189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89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5FB0FF"/>
                </a:solidFill>
                <a:latin typeface="Arial"/>
              </a:rPr>
              <a:t>97.5%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189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of pointings within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0.1% of ZodiPy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42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42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5FB0FF"/>
                </a:solidFill>
                <a:latin typeface="Arial"/>
              </a:rPr>
              <a:t>≤0.03%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42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median error for every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choice of withheld months</a:t>
            </a:r>
          </a:p>
        </p:txBody>
      </p:sp>
      <p:pic>
        <p:nvPicPr>
          <p:cNvPr id="52" name="Picture 51" descr="accuracy2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17904" y="11178540"/>
            <a:ext cx="9576031" cy="478801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7236440" y="16057995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4. </a:t>
            </a:r>
            <a:r>
              <a:rPr sz="2200" b="0">
                <a:solidFill>
                  <a:srgbClr val="A9B6C6"/>
                </a:solidFill>
                <a:latin typeface="Arial"/>
              </a:rPr>
              <a:t>Network vs. ZodiPy on the two 30-day blocks never used in training (days 30–60, 90–120; 180,166 pointings). Left: error through the mission; right: every pointing falls on the 1:1 line.</a:t>
            </a:r>
          </a:p>
        </p:txBody>
      </p:sp>
      <p:pic>
        <p:nvPicPr>
          <p:cNvPr id="54" name="Picture 53" descr="training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705" y="16922103"/>
            <a:ext cx="8618428" cy="356228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236440" y="20575827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5. </a:t>
            </a:r>
            <a:r>
              <a:rPr sz="2200" b="0">
                <a:solidFill>
                  <a:srgbClr val="A9B6C6"/>
                </a:solidFill>
                <a:latin typeface="Arial"/>
              </a:rPr>
              <a:t>Error during training: 5 networks (thin), average (thick). The error on withheld months levels off and never rises: no overfitting.</a:t>
            </a:r>
          </a:p>
        </p:txBody>
      </p:sp>
      <p:pic>
        <p:nvPicPr>
          <p:cNvPr id="56" name="Picture 55" descr="shifts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17904" y="21439935"/>
            <a:ext cx="9576031" cy="430921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7236440" y="2584058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6. </a:t>
            </a:r>
            <a:r>
              <a:rPr sz="2200" b="0">
                <a:solidFill>
                  <a:srgbClr val="A9B6C6"/>
                </a:solidFill>
                <a:latin typeface="Arial"/>
              </a:rPr>
              <a:t>Six versions of the test, sliding the withheld months 10 days at a time: all reach 0.015–0.03% (red). Predicting past the start/end of the data (orange) is harder: fine for ~10 days, then errors grow.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236440" y="26704697"/>
            <a:ext cx="14538960" cy="97779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Largest errors </a:t>
            </a:r>
            <a:r>
              <a:rPr sz="2600" b="0">
                <a:solidFill>
                  <a:srgbClr val="EEF3F8"/>
                </a:solidFill>
                <a:latin typeface="Arial"/>
              </a:rPr>
              <a:t>along the plane of the planets, where the dust bands are (0.08%); </a:t>
            </a:r>
            <a:r>
              <a:rPr sz="2600" b="1">
                <a:solidFill>
                  <a:srgbClr val="EEF3F8"/>
                </a:solidFill>
                <a:latin typeface="Arial"/>
              </a:rPr>
              <a:t>smallest </a:t>
            </a:r>
            <a:r>
              <a:rPr sz="2600" b="0">
                <a:solidFill>
                  <a:srgbClr val="EEF3F8"/>
                </a:solidFill>
                <a:latin typeface="Arial"/>
              </a:rPr>
              <a:t>toward the poles (0.013%; Fig. 7)</a:t>
            </a:r>
          </a:p>
        </p:txBody>
      </p:sp>
      <p:pic>
        <p:nvPicPr>
          <p:cNvPr id="59" name="Picture 58" descr="skyerror7_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17904" y="27796796"/>
            <a:ext cx="9576031" cy="485185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236440" y="32740092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7. </a:t>
            </a:r>
            <a:r>
              <a:rPr sz="2200" b="0">
                <a:solidFill>
                  <a:srgbClr val="A9B6C6"/>
                </a:solidFill>
                <a:latin typeface="Arial"/>
              </a:rPr>
              <a:t>Error on pointings the network never saw, across the whole sky. Each pointing is blended over a 7° patch to show the large-scale pattern. Grey: not tested.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824960" y="34152840"/>
            <a:ext cx="15361920" cy="6080759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236440" y="35387280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465040" y="35387280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66BB6A"/>
                </a:solidFill>
                <a:latin typeface="Arial"/>
              </a:rPr>
              <a:t>✓ DONE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66BB6A"/>
                </a:solidFill>
                <a:latin typeface="Arial"/>
              </a:rPr>
              <a:t>Validate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42680" y="35387280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Learn ZodiPy's simulated sky from geometry alone; test on unseen months and sky regions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24231600" y="36329112"/>
            <a:ext cx="548640" cy="164592"/>
          </a:xfrm>
          <a:prstGeom prst="downArrow">
            <a:avLst/>
          </a:prstGeom>
          <a:solidFill>
            <a:srgbClr val="FF6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7236440" y="36521136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465040" y="36521136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B000"/>
                </a:solidFill>
                <a:latin typeface="Arial"/>
              </a:rPr>
              <a:t>IN PROGRESS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B000"/>
                </a:solidFill>
                <a:latin typeface="Arial"/>
              </a:rPr>
              <a:t>Refine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42680" y="36521136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Longer training; all SPHEREx wavelengths (a first 1.25–5 μm version: ~0.1% error)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24231600" y="37462968"/>
            <a:ext cx="548640" cy="164592"/>
          </a:xfrm>
          <a:prstGeom prst="downArrow">
            <a:avLst/>
          </a:prstGeom>
          <a:solidFill>
            <a:srgbClr val="FF6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7236440" y="37654992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A9B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465040" y="37654992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Scale 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42680" y="37654992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Move training to a computing cluster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24231600" y="38596824"/>
            <a:ext cx="548640" cy="164592"/>
          </a:xfrm>
          <a:prstGeom prst="downArrow">
            <a:avLst/>
          </a:prstGeom>
          <a:solidFill>
            <a:srgbClr val="FF6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236440" y="38788848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A9B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465040" y="38788848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Real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42680" y="38788848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Train on real SPHEREx images and compare with the Kelsall model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236440" y="39776400"/>
            <a:ext cx="1453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A9B6C6"/>
                </a:solidFill>
                <a:latin typeface="Arial"/>
              </a:rPr>
              <a:t>All results so far are preliminary and use simulated data.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0599360"/>
            <a:ext cx="15361920" cy="2834640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pic>
        <p:nvPicPr>
          <p:cNvPr id="83" name="Picture 82" descr="logo_ns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36040" y="41559480"/>
            <a:ext cx="1640792" cy="16459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143000" y="41513760"/>
            <a:ext cx="12618720" cy="18287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EEF3F8"/>
                </a:solidFill>
                <a:latin typeface="Arial"/>
              </a:rPr>
              <a:t>This research is supported by a URS grant at New Mexico State University, funded by the National Science Foundation (NSF). Thank you to Dr. Andrew Saydjari for mentorship, and to the developers of ZodiPy and Flux.jl.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824960" y="40599360"/>
            <a:ext cx="15361920" cy="2834640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23644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Kelsall, T., et al. 1998, ApJ, 508, 44 (COBE/DIRBE zodiacal-light model)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San, M., et al. 2022, JOSS, 7, 4602 (ZodiPy)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68880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Doré, O., et al. 2014, arXiv:1412.4872 (SPHEREx)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Innes, M. 2018, JOSS, 3, 602 (Flux.jl)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